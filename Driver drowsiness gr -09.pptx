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416" r:id="rId1"/>
  </p:sldMasterIdLst>
  <p:notesMasterIdLst>
    <p:notesMasterId r:id="rId24"/>
  </p:notesMasterIdLst>
  <p:sldIdLst>
    <p:sldId id="267" r:id="rId2"/>
    <p:sldId id="268" r:id="rId3"/>
    <p:sldId id="256" r:id="rId4"/>
    <p:sldId id="275" r:id="rId5"/>
    <p:sldId id="281" r:id="rId6"/>
    <p:sldId id="282" r:id="rId7"/>
    <p:sldId id="259" r:id="rId8"/>
    <p:sldId id="257" r:id="rId9"/>
    <p:sldId id="269" r:id="rId10"/>
    <p:sldId id="262" r:id="rId11"/>
    <p:sldId id="260" r:id="rId12"/>
    <p:sldId id="261" r:id="rId13"/>
    <p:sldId id="276" r:id="rId14"/>
    <p:sldId id="264" r:id="rId15"/>
    <p:sldId id="277" r:id="rId16"/>
    <p:sldId id="278" r:id="rId17"/>
    <p:sldId id="279" r:id="rId18"/>
    <p:sldId id="274" r:id="rId19"/>
    <p:sldId id="280" r:id="rId20"/>
    <p:sldId id="272" r:id="rId21"/>
    <p:sldId id="273" r:id="rId22"/>
    <p:sldId id="283" r:id="rId23"/>
  </p:sldIdLst>
  <p:sldSz cx="9144000" cy="5143500" type="screen16x9"/>
  <p:notesSz cx="6858000" cy="9144000"/>
  <p:embeddedFontLst>
    <p:embeddedFont>
      <p:font typeface="Century Gothic" pitchFamily="34" charset="0"/>
      <p:regular r:id="rId25"/>
      <p:bold r:id="rId26"/>
      <p:italic r:id="rId27"/>
      <p:boldItalic r:id="rId28"/>
    </p:embeddedFont>
    <p:embeddedFont>
      <p:font typeface="Wingdings 3" pitchFamily="18" charset="2"/>
      <p:regular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91" d="100"/>
          <a:sy n="91" d="100"/>
        </p:scale>
        <p:origin x="-786" y="-96"/>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c36ae4bbc3_0_18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c36ae4bbc3_0_18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c36ae4bbc3_0_1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c36ae4bbc3_0_1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c36ae4bbc3_0_19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c36ae4bbc3_0_19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c36ae4bbc3_0_1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c36ae4bbc3_0_1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c36ae4bbc3_0_19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c36ae4bbc3_0_1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36ae4bbc3_0_19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36ae4bbc3_0_19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866216" y="1574800"/>
            <a:ext cx="6619244" cy="2008236"/>
          </a:xfrm>
        </p:spPr>
        <p:txBody>
          <a:bodyPr anchor="b"/>
          <a:lstStyle>
            <a:lvl1pPr>
              <a:defRPr sz="4050"/>
            </a:lvl1pPr>
          </a:lstStyle>
          <a:p>
            <a:r>
              <a:rPr lang="en-US"/>
              <a:t>Click to edit Master title style</a:t>
            </a:r>
            <a:endParaRPr lang="en-US" dirty="0"/>
          </a:p>
        </p:txBody>
      </p:sp>
      <p:sp>
        <p:nvSpPr>
          <p:cNvPr id="3" name="Subtitle 2"/>
          <p:cNvSpPr>
            <a:spLocks noGrp="1"/>
          </p:cNvSpPr>
          <p:nvPr>
            <p:ph type="subTitle" idx="1"/>
          </p:nvPr>
        </p:nvSpPr>
        <p:spPr bwMode="gray">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619239" y="1344169"/>
            <a:ext cx="742949" cy="228599"/>
          </a:xfrm>
        </p:spPr>
        <p:txBody>
          <a:bodyPr anchor="t"/>
          <a:lstStyle>
            <a:lvl1pPr algn="l">
              <a:defRPr b="0" i="0">
                <a:solidFill>
                  <a:schemeClr val="bg1">
                    <a:alpha val="60000"/>
                  </a:schemeClr>
                </a:solidFill>
              </a:defRPr>
            </a:lvl1p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bwMode="gray">
          <a:xfrm rot="5400000">
            <a:off x="6713982" y="2420874"/>
            <a:ext cx="2894846" cy="2286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764406" y="221797"/>
            <a:ext cx="628649" cy="575765"/>
          </a:xfrm>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445012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66216" y="1952625"/>
            <a:ext cx="6619244"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98151399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2008234"/>
            <a:ext cx="3263269" cy="1712868"/>
          </a:xfrm>
        </p:spPr>
        <p:txBody>
          <a:bodyPr anchor="ctr"/>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171670" y="2008233"/>
            <a:ext cx="2818159" cy="1712868"/>
          </a:xfrm>
        </p:spPr>
        <p:txBody>
          <a:bodyPr anchor="ctr"/>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27931937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215" y="1952625"/>
            <a:ext cx="3618869" cy="25622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6535" y="1952625"/>
            <a:ext cx="3618869" cy="25622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9294838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216" y="1952625"/>
            <a:ext cx="361886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66215" y="2384822"/>
            <a:ext cx="3618869" cy="213002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6535" y="1952625"/>
            <a:ext cx="3618869"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56535" y="2384822"/>
            <a:ext cx="3618869" cy="2130029"/>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16580245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866216" y="730251"/>
            <a:ext cx="6571060" cy="530223"/>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1056766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1269537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971550"/>
            <a:ext cx="2094869" cy="12001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4335859" y="1085850"/>
            <a:ext cx="3892550" cy="3429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215" y="2346961"/>
            <a:ext cx="2094869" cy="2171699"/>
          </a:xfrm>
        </p:spPr>
        <p:txBody>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22170530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270000"/>
            <a:ext cx="2898851" cy="1301750"/>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10903" y="857250"/>
            <a:ext cx="2420395"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866216" y="2743200"/>
            <a:ext cx="2894409" cy="1028700"/>
          </a:xfrm>
        </p:spPr>
        <p:txBody>
          <a:bodyPr>
            <a:normAutofit/>
          </a:bodyPr>
          <a:lstStyle>
            <a:lvl1pPr marL="0" indent="0">
              <a:buNone/>
              <a:defRPr sz="105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14519553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3727445"/>
            <a:ext cx="6619244"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57175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5" y="4152499"/>
            <a:ext cx="6619244" cy="370284"/>
          </a:xfrm>
        </p:spPr>
        <p:txBody>
          <a:bodyPr>
            <a:normAutofit/>
          </a:bodyPr>
          <a:lstStyle>
            <a:lvl1pPr marL="0" indent="0">
              <a:buNone/>
              <a:defRPr sz="900">
                <a:solidFill>
                  <a:schemeClr val="accent1">
                    <a:lumMod val="60000"/>
                    <a:lumOff val="40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8977124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1598" y="797563"/>
            <a:ext cx="6623862" cy="1029740"/>
          </a:xfrm>
        </p:spPr>
        <p:txBody>
          <a:bodyPr/>
          <a:lstStyle>
            <a:lvl1pPr>
              <a:defRPr sz="3000"/>
            </a:lvl1pPr>
          </a:lstStyle>
          <a:p>
            <a:r>
              <a:rPr lang="en-US"/>
              <a:t>Click to edit Master title style</a:t>
            </a:r>
            <a:endParaRPr lang="en-US" dirty="0"/>
          </a:p>
        </p:txBody>
      </p:sp>
      <p:sp>
        <p:nvSpPr>
          <p:cNvPr id="8" name="Text Placeholder 3"/>
          <p:cNvSpPr>
            <a:spLocks noGrp="1"/>
          </p:cNvSpPr>
          <p:nvPr>
            <p:ph type="body" sz="half" idx="2"/>
          </p:nvPr>
        </p:nvSpPr>
        <p:spPr>
          <a:xfrm>
            <a:off x="866216" y="2657475"/>
            <a:ext cx="6619244" cy="1857375"/>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24743613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51435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661175" y="455502"/>
            <a:ext cx="601434"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13" name="TextBox 12"/>
          <p:cNvSpPr txBox="1"/>
          <p:nvPr/>
        </p:nvSpPr>
        <p:spPr bwMode="gray">
          <a:xfrm>
            <a:off x="7413344" y="1960341"/>
            <a:ext cx="489572" cy="1200329"/>
          </a:xfrm>
          <a:prstGeom prst="rect">
            <a:avLst/>
          </a:prstGeom>
          <a:noFill/>
        </p:spPr>
        <p:txBody>
          <a:bodyPr wrap="square" rtlCol="0">
            <a:spAutoFit/>
          </a:bodyPr>
          <a:lstStyle/>
          <a:p>
            <a:pPr algn="r"/>
            <a:r>
              <a:rPr lang="en-US" sz="72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86408" y="736600"/>
            <a:ext cx="6340430" cy="2022474"/>
          </a:xfrm>
        </p:spPr>
        <p:txBody>
          <a:bodyPr/>
          <a:lstStyle>
            <a:lvl1pPr>
              <a:defRPr sz="3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459459" y="2759074"/>
            <a:ext cx="5798414" cy="256631"/>
          </a:xfrm>
        </p:spPr>
        <p:txBody>
          <a:bodyPr anchor="t">
            <a:normAutofit/>
          </a:bodyPr>
          <a:lstStyle>
            <a:lvl1pPr marL="0" indent="0">
              <a:buNone/>
              <a:defRPr lang="en-US" sz="1050" b="0" i="0" kern="1200" cap="small" dirty="0">
                <a:solidFill>
                  <a:schemeClr val="accent1">
                    <a:lumMod val="60000"/>
                    <a:lumOff val="40000"/>
                  </a:schemeClr>
                </a:solidFill>
                <a:latin typeface="+mn-lt"/>
                <a:ea typeface="+mn-ea"/>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771899"/>
            <a:ext cx="6933673" cy="748393"/>
          </a:xfrm>
        </p:spPr>
        <p:txBody>
          <a:bodyPr anchor="ct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06479687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866216" y="1778000"/>
            <a:ext cx="6619245" cy="136688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768725"/>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41897171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1952626"/>
            <a:ext cx="235640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866215" y="2384823"/>
            <a:ext cx="2356409"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384541" y="1952625"/>
            <a:ext cx="2360257"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3384541" y="2384823"/>
            <a:ext cx="2360257"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16101" y="1952626"/>
            <a:ext cx="2359298"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916247" y="2384822"/>
            <a:ext cx="2359152" cy="2135470"/>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3302978"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29301"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345549205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66215" y="3399633"/>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Picture Placeholder 2"/>
          <p:cNvSpPr>
            <a:spLocks noGrp="1" noChangeAspect="1"/>
          </p:cNvSpPr>
          <p:nvPr>
            <p:ph type="pic" idx="15"/>
          </p:nvPr>
        </p:nvSpPr>
        <p:spPr>
          <a:xfrm>
            <a:off x="1000915"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866215" y="3831830"/>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3426649" y="3399634"/>
            <a:ext cx="2287829"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1" name="Picture Placeholder 2"/>
          <p:cNvSpPr>
            <a:spLocks noGrp="1" noChangeAspect="1"/>
          </p:cNvSpPr>
          <p:nvPr>
            <p:ph type="pic" idx="21"/>
          </p:nvPr>
        </p:nvSpPr>
        <p:spPr>
          <a:xfrm>
            <a:off x="3561347"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3427629" y="3831829"/>
            <a:ext cx="2287829"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987082" y="3399634"/>
            <a:ext cx="228832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2" name="Picture Placeholder 2"/>
          <p:cNvSpPr>
            <a:spLocks noGrp="1" noChangeAspect="1"/>
          </p:cNvSpPr>
          <p:nvPr>
            <p:ph type="pic" idx="22"/>
          </p:nvPr>
        </p:nvSpPr>
        <p:spPr>
          <a:xfrm>
            <a:off x="6122273" y="1952625"/>
            <a:ext cx="2018432" cy="11936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987081" y="3831828"/>
            <a:ext cx="2288322" cy="6884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43" name="Straight Connector 42"/>
          <p:cNvCxnSpPr/>
          <p:nvPr/>
        </p:nvCxnSpPr>
        <p:spPr>
          <a:xfrm>
            <a:off x="3304373"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848352" y="1927225"/>
            <a:ext cx="0" cy="261937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5/5/2024</a:t>
            </a:fld>
            <a:endParaRPr lang="en-US" dirty="0"/>
          </a:p>
        </p:txBody>
      </p:sp>
      <p:sp>
        <p:nvSpPr>
          <p:cNvPr id="8" name="Footer Placeholder 7"/>
          <p:cNvSpPr>
            <a:spLocks noGrp="1"/>
          </p:cNvSpPr>
          <p:nvPr>
            <p:ph type="ftr" sz="quarter" idx="11"/>
          </p:nvPr>
        </p:nvSpPr>
        <p:spPr>
          <a:xfrm>
            <a:off x="420833" y="4793879"/>
            <a:ext cx="2733212" cy="228601"/>
          </a:xfrm>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62649738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66216" y="730251"/>
            <a:ext cx="6619244" cy="530223"/>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216" y="1952625"/>
            <a:ext cx="6619244" cy="2562225"/>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21580" y="4793879"/>
            <a:ext cx="742949" cy="228599"/>
          </a:xfrm>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165290229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9144000" cy="51435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6438927" y="958850"/>
            <a:ext cx="1057474" cy="3561443"/>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216" y="958850"/>
            <a:ext cx="4692019" cy="35614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989829" y="4793879"/>
            <a:ext cx="744101" cy="228599"/>
          </a:xfrm>
        </p:spPr>
        <p:txBody>
          <a:bodyPr/>
          <a:lstStyle/>
          <a:p>
            <a:fld id="{48A87A34-81AB-432B-8DAE-1953F412C126}" type="datetimeFigureOut">
              <a:rPr lang="en-US" smtClean="0"/>
              <a:pPr/>
              <a:t>5/5/2024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407644979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xmlns="" val="115721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9144000" cy="51435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866216" y="730251"/>
            <a:ext cx="6571060" cy="53022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216" y="1952625"/>
            <a:ext cx="6571060" cy="25622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89829" y="4793879"/>
            <a:ext cx="742949" cy="228599"/>
          </a:xfrm>
          <a:prstGeom prst="rect">
            <a:avLst/>
          </a:prstGeom>
        </p:spPr>
        <p:txBody>
          <a:bodyPr vert="horz" lIns="91440" tIns="45720" rIns="91440" bIns="45720" rtlCol="0" anchor="ctr"/>
          <a:lstStyle>
            <a:lvl1pPr algn="r">
              <a:defRPr sz="750" b="1" i="0">
                <a:solidFill>
                  <a:schemeClr val="accent1"/>
                </a:solidFill>
              </a:defRPr>
            </a:lvl1pPr>
          </a:lstStyle>
          <a:p>
            <a:fld id="{48A87A34-81AB-432B-8DAE-1953F412C126}" type="datetimeFigureOut">
              <a:rPr lang="en-US" smtClean="0"/>
              <a:pPr/>
              <a:t>5/5/2024</a:t>
            </a:fld>
            <a:endParaRPr lang="en-US" dirty="0"/>
          </a:p>
        </p:txBody>
      </p:sp>
      <p:sp>
        <p:nvSpPr>
          <p:cNvPr id="5" name="Footer Placeholder 4"/>
          <p:cNvSpPr>
            <a:spLocks noGrp="1"/>
          </p:cNvSpPr>
          <p:nvPr>
            <p:ph type="ftr" sz="quarter" idx="3"/>
          </p:nvPr>
        </p:nvSpPr>
        <p:spPr>
          <a:xfrm>
            <a:off x="420833" y="4793879"/>
            <a:ext cx="2894846" cy="228601"/>
          </a:xfrm>
          <a:prstGeom prst="rect">
            <a:avLst/>
          </a:prstGeom>
        </p:spPr>
        <p:txBody>
          <a:bodyPr vert="horz" lIns="91440" tIns="45720" rIns="91440" bIns="45720" rtlCol="0" anchor="ctr"/>
          <a:lstStyle>
            <a:lvl1pPr algn="l">
              <a:defRPr sz="750" b="1" i="0">
                <a:solidFill>
                  <a:schemeClr val="accent1"/>
                </a:solidFill>
              </a:defRPr>
            </a:lvl1pPr>
          </a:lstStyle>
          <a:p>
            <a:endParaRPr lang="en-US" dirty="0"/>
          </a:p>
        </p:txBody>
      </p:sp>
      <p:sp>
        <p:nvSpPr>
          <p:cNvPr id="21" name="Rectangle 20"/>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bg1"/>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xmlns="" val="2450030816"/>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 id="2147484428" r:id="rId12"/>
    <p:sldLayoutId id="2147484429" r:id="rId13"/>
    <p:sldLayoutId id="2147484430" r:id="rId14"/>
    <p:sldLayoutId id="2147484431" r:id="rId15"/>
    <p:sldLayoutId id="2147484432" r:id="rId16"/>
    <p:sldLayoutId id="2147484433" r:id="rId17"/>
    <p:sldLayoutId id="2147484434" r:id="rId18"/>
  </p:sldLayoutIdLst>
  <p:hf sldNum="0" hdr="0" ftr="0" dt="0"/>
  <p:txStyles>
    <p:titleStyle>
      <a:lvl1pPr algn="l" defTabSz="342900" rtl="0" eaLnBrk="1" latinLnBrk="0" hangingPunct="1">
        <a:spcBef>
          <a:spcPct val="0"/>
        </a:spcBef>
        <a:buNone/>
        <a:defRPr sz="27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b="0" i="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1CF1AF-D42B-968E-69A7-3BCC984FB8C4}"/>
              </a:ext>
            </a:extLst>
          </p:cNvPr>
          <p:cNvSpPr>
            <a:spLocks noGrp="1"/>
          </p:cNvSpPr>
          <p:nvPr>
            <p:ph type="title"/>
          </p:nvPr>
        </p:nvSpPr>
        <p:spPr>
          <a:xfrm>
            <a:off x="508001" y="457200"/>
            <a:ext cx="7934959" cy="563880"/>
          </a:xfrm>
        </p:spPr>
        <p:txBody>
          <a:bodyPr>
            <a:normAutofit fontScale="90000"/>
          </a:bodyPr>
          <a:lstStyle/>
          <a:p>
            <a:pPr algn="just"/>
            <a:r>
              <a:rPr lang="en-US" dirty="0">
                <a:latin typeface="Times New Roman" pitchFamily="18" charset="0"/>
                <a:cs typeface="Times New Roman" pitchFamily="18" charset="0"/>
              </a:rPr>
              <a:t>DRIVER DROWSINESS  DETECTION USING MACHINE LEARNING</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CBEB09C2-FF09-0EC2-F3F9-38FA39A055A3}"/>
              </a:ext>
            </a:extLst>
          </p:cNvPr>
          <p:cNvSpPr>
            <a:spLocks noGrp="1"/>
          </p:cNvSpPr>
          <p:nvPr>
            <p:ph idx="1"/>
          </p:nvPr>
        </p:nvSpPr>
        <p:spPr>
          <a:xfrm>
            <a:off x="508001" y="2947988"/>
            <a:ext cx="6447501" cy="1905952"/>
          </a:xfrm>
        </p:spPr>
        <p:txBody>
          <a:bodyPr>
            <a:normAutofit/>
          </a:bodyPr>
          <a:lstStyle/>
          <a:p>
            <a:r>
              <a:rPr lang="en-IN" b="1" dirty="0">
                <a:latin typeface="+mj-lt"/>
                <a:cs typeface="Times New Roman" pitchFamily="18" charset="0"/>
              </a:rPr>
              <a:t>NAME: SELINA NAYAK,STUTI PATTNAIK,TAPASWINI HALDAR</a:t>
            </a:r>
          </a:p>
          <a:p>
            <a:r>
              <a:rPr lang="en-IN" b="1" dirty="0">
                <a:latin typeface="+mj-lt"/>
                <a:cs typeface="Times New Roman" pitchFamily="18" charset="0"/>
              </a:rPr>
              <a:t>REDG NO: 2001106516,2001106520,2112100041</a:t>
            </a:r>
          </a:p>
          <a:p>
            <a:r>
              <a:rPr lang="en-IN" b="1" dirty="0">
                <a:latin typeface="+mj-lt"/>
                <a:cs typeface="Times New Roman" pitchFamily="18" charset="0"/>
              </a:rPr>
              <a:t>BRANCH: INFORMATION TECHNOLOGY</a:t>
            </a:r>
          </a:p>
          <a:p>
            <a:r>
              <a:rPr lang="en-IN" b="1" dirty="0">
                <a:latin typeface="+mj-lt"/>
                <a:cs typeface="Times New Roman" pitchFamily="18" charset="0"/>
              </a:rPr>
              <a:t>SEMESTER: 8</a:t>
            </a:r>
          </a:p>
          <a:p>
            <a:r>
              <a:rPr lang="en-IN" b="1" dirty="0">
                <a:latin typeface="+mj-lt"/>
                <a:cs typeface="Times New Roman" pitchFamily="18" charset="0"/>
              </a:rPr>
              <a:t>GROUP : 9</a:t>
            </a:r>
          </a:p>
          <a:p>
            <a:r>
              <a:rPr lang="en-IN" b="1" dirty="0">
                <a:latin typeface="+mj-lt"/>
                <a:cs typeface="Times New Roman" pitchFamily="18" charset="0"/>
              </a:rPr>
              <a:t>Guided by : MR. DEBI PRASAD MISHRA</a:t>
            </a:r>
          </a:p>
          <a:p>
            <a:endParaRPr lang="en-IN" dirty="0"/>
          </a:p>
        </p:txBody>
      </p:sp>
      <p:pic>
        <p:nvPicPr>
          <p:cNvPr id="4" name="Picture 3">
            <a:extLst>
              <a:ext uri="{FF2B5EF4-FFF2-40B4-BE49-F238E27FC236}">
                <a16:creationId xmlns:a16="http://schemas.microsoft.com/office/drawing/2014/main" xmlns="" id="{F3332434-7ADF-27BB-0105-6F37CDCC97C1}"/>
              </a:ext>
            </a:extLst>
          </p:cNvPr>
          <p:cNvPicPr>
            <a:picLocks noChangeAspect="1"/>
          </p:cNvPicPr>
          <p:nvPr/>
        </p:nvPicPr>
        <p:blipFill>
          <a:blip r:embed="rId2"/>
          <a:stretch>
            <a:fillRect/>
          </a:stretch>
        </p:blipFill>
        <p:spPr>
          <a:xfrm>
            <a:off x="2865120" y="1249680"/>
            <a:ext cx="1988820" cy="1615440"/>
          </a:xfrm>
          <a:prstGeom prst="rect">
            <a:avLst/>
          </a:prstGeom>
        </p:spPr>
      </p:pic>
    </p:spTree>
    <p:extLst>
      <p:ext uri="{BB962C8B-B14F-4D97-AF65-F5344CB8AC3E}">
        <p14:creationId xmlns:p14="http://schemas.microsoft.com/office/powerpoint/2010/main" xmlns="" val="302590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1E7AAA-BEA2-02D6-7915-D4FAFEF59BC4}"/>
              </a:ext>
            </a:extLst>
          </p:cNvPr>
          <p:cNvSpPr>
            <a:spLocks noGrp="1"/>
          </p:cNvSpPr>
          <p:nvPr>
            <p:ph type="title"/>
          </p:nvPr>
        </p:nvSpPr>
        <p:spPr/>
        <p:txBody>
          <a:bodyPr/>
          <a:lstStyle/>
          <a:p>
            <a:r>
              <a:rPr lang="en-US" dirty="0">
                <a:latin typeface="Times New Roman" pitchFamily="18" charset="0"/>
                <a:cs typeface="Times New Roman" pitchFamily="18" charset="0"/>
              </a:rPr>
              <a:t>CONTENTS</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C44F9AD3-147F-CA49-F7F1-59FFA762905F}"/>
              </a:ext>
            </a:extLst>
          </p:cNvPr>
          <p:cNvSpPr>
            <a:spLocks noGrp="1"/>
          </p:cNvSpPr>
          <p:nvPr>
            <p:ph idx="1"/>
          </p:nvPr>
        </p:nvSpPr>
        <p:spPr>
          <a:xfrm>
            <a:off x="965276" y="1767840"/>
            <a:ext cx="7543800" cy="2941320"/>
          </a:xfrm>
        </p:spPr>
        <p:txBody>
          <a:bodyPr>
            <a:normAutofit fontScale="77500" lnSpcReduction="20000"/>
          </a:bodyPr>
          <a:lstStyle/>
          <a:p>
            <a:pPr algn="just"/>
            <a:r>
              <a:rPr lang="en-US" b="1" dirty="0">
                <a:latin typeface="+mj-lt"/>
                <a:cs typeface="Times New Roman" pitchFamily="18" charset="0"/>
              </a:rPr>
              <a:t>INTRODUCTION</a:t>
            </a:r>
          </a:p>
          <a:p>
            <a:pPr algn="just"/>
            <a:r>
              <a:rPr lang="en-US" b="1" dirty="0">
                <a:latin typeface="+mj-lt"/>
                <a:cs typeface="Times New Roman" pitchFamily="18" charset="0"/>
              </a:rPr>
              <a:t>MOTIVATION</a:t>
            </a:r>
          </a:p>
          <a:p>
            <a:pPr algn="just"/>
            <a:r>
              <a:rPr lang="en-US" b="1" dirty="0">
                <a:latin typeface="+mj-lt"/>
                <a:cs typeface="Times New Roman" pitchFamily="18" charset="0"/>
              </a:rPr>
              <a:t>LITERATURE SURVEY</a:t>
            </a:r>
          </a:p>
          <a:p>
            <a:pPr algn="just"/>
            <a:r>
              <a:rPr lang="en-US" b="1" dirty="0">
                <a:latin typeface="+mj-lt"/>
                <a:cs typeface="Times New Roman" pitchFamily="18" charset="0"/>
              </a:rPr>
              <a:t>OBJECTIVE</a:t>
            </a:r>
          </a:p>
          <a:p>
            <a:pPr algn="just"/>
            <a:r>
              <a:rPr lang="en-US" b="1" dirty="0">
                <a:latin typeface="+mj-lt"/>
                <a:cs typeface="Times New Roman" pitchFamily="18" charset="0"/>
              </a:rPr>
              <a:t>PROBLEM STATEMENT</a:t>
            </a:r>
          </a:p>
          <a:p>
            <a:pPr algn="just"/>
            <a:r>
              <a:rPr lang="en-US" b="1" dirty="0">
                <a:latin typeface="+mj-lt"/>
                <a:cs typeface="Times New Roman" pitchFamily="18" charset="0"/>
              </a:rPr>
              <a:t>PROPOSED SYSTEM </a:t>
            </a:r>
          </a:p>
          <a:p>
            <a:pPr algn="just"/>
            <a:r>
              <a:rPr lang="en-US" b="1" dirty="0">
                <a:latin typeface="+mj-lt"/>
                <a:cs typeface="Times New Roman" pitchFamily="18" charset="0"/>
              </a:rPr>
              <a:t>SYSTEM DESIGN </a:t>
            </a:r>
          </a:p>
          <a:p>
            <a:pPr algn="just"/>
            <a:r>
              <a:rPr lang="en-US" b="1" dirty="0">
                <a:latin typeface="+mj-lt"/>
                <a:cs typeface="Times New Roman" pitchFamily="18" charset="0"/>
              </a:rPr>
              <a:t>COMPONENTS OF PROPOSED SYSTEM</a:t>
            </a:r>
          </a:p>
          <a:p>
            <a:pPr algn="just"/>
            <a:r>
              <a:rPr lang="en-US" b="1" dirty="0">
                <a:latin typeface="+mj-lt"/>
                <a:cs typeface="Times New Roman" pitchFamily="18" charset="0"/>
              </a:rPr>
              <a:t>REQUIREMENT SPECIFICATION</a:t>
            </a:r>
          </a:p>
          <a:p>
            <a:pPr algn="just"/>
            <a:r>
              <a:rPr lang="en-US" b="1" dirty="0">
                <a:latin typeface="+mj-lt"/>
                <a:cs typeface="Times New Roman" pitchFamily="18" charset="0"/>
              </a:rPr>
              <a:t>HAAR CASCADE CLASSIFIERS</a:t>
            </a:r>
          </a:p>
          <a:p>
            <a:pPr algn="just"/>
            <a:r>
              <a:rPr lang="en-US" b="1" dirty="0">
                <a:latin typeface="+mj-lt"/>
                <a:cs typeface="Times New Roman" pitchFamily="18" charset="0"/>
              </a:rPr>
              <a:t>OUTPUT</a:t>
            </a:r>
          </a:p>
          <a:p>
            <a:pPr algn="just"/>
            <a:r>
              <a:rPr lang="en-US" b="1" dirty="0">
                <a:latin typeface="+mj-lt"/>
                <a:cs typeface="Times New Roman" pitchFamily="18" charset="0"/>
              </a:rPr>
              <a:t>CONCLUSION</a:t>
            </a:r>
          </a:p>
          <a:p>
            <a:pPr algn="just"/>
            <a:r>
              <a:rPr lang="en-US" b="1" dirty="0">
                <a:latin typeface="+mj-lt"/>
                <a:cs typeface="Times New Roman" pitchFamily="18" charset="0"/>
              </a:rPr>
              <a:t>REFERENCES</a:t>
            </a:r>
          </a:p>
          <a:p>
            <a:pPr algn="just"/>
            <a:endParaRPr lang="en-US" dirty="0"/>
          </a:p>
          <a:p>
            <a:pPr algn="just"/>
            <a:endParaRPr lang="en-US" dirty="0"/>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xmlns="" val="1199894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title"/>
          </p:nvPr>
        </p:nvSpPr>
        <p:spPr>
          <a:xfrm>
            <a:off x="866216" y="753111"/>
            <a:ext cx="6571060" cy="530223"/>
          </a:xfrm>
          <a:prstGeom prst="rect">
            <a:avLst/>
          </a:prstGeom>
        </p:spPr>
        <p:txBody>
          <a:bodyPr spcFirstLastPara="1" wrap="square" lIns="0" tIns="91425" rIns="91425" bIns="91425" anchor="b" anchorCtr="0">
            <a:normAutofit fontScale="90000"/>
          </a:bodyPr>
          <a:lstStyle/>
          <a:p>
            <a:pPr marL="0" lvl="0" indent="0" algn="l" rtl="0">
              <a:spcBef>
                <a:spcPts val="0"/>
              </a:spcBef>
              <a:spcAft>
                <a:spcPts val="0"/>
              </a:spcAft>
              <a:buNone/>
            </a:pPr>
            <a:r>
              <a:rPr lang="en" dirty="0">
                <a:latin typeface="Times New Roman" pitchFamily="18" charset="0"/>
                <a:ea typeface="Times New Roman"/>
                <a:cs typeface="Times New Roman" pitchFamily="18" charset="0"/>
                <a:sym typeface="Times New Roman"/>
              </a:rPr>
              <a:t>INTRODUCTION</a:t>
            </a:r>
            <a:endParaRPr dirty="0">
              <a:latin typeface="Times New Roman" pitchFamily="18" charset="0"/>
              <a:ea typeface="Times New Roman"/>
              <a:cs typeface="Times New Roman" pitchFamily="18" charset="0"/>
              <a:sym typeface="Times New Roman"/>
            </a:endParaRPr>
          </a:p>
        </p:txBody>
      </p:sp>
      <p:sp>
        <p:nvSpPr>
          <p:cNvPr id="59" name="Google Shape;59;p13"/>
          <p:cNvSpPr txBox="1">
            <a:spLocks noGrp="1"/>
          </p:cNvSpPr>
          <p:nvPr>
            <p:ph idx="1"/>
          </p:nvPr>
        </p:nvSpPr>
        <p:spPr>
          <a:prstGeom prst="rect">
            <a:avLst/>
          </a:prstGeom>
        </p:spPr>
        <p:txBody>
          <a:bodyPr spcFirstLastPara="1" wrap="square" lIns="91425" tIns="91425" rIns="91425" bIns="91425" anchor="t" anchorCtr="0">
            <a:normAutofit fontScale="92500" lnSpcReduction="10000"/>
          </a:bodyPr>
          <a:lstStyle/>
          <a:p>
            <a:pPr marL="457200" lvl="0" indent="-342900" algn="just" rtl="0">
              <a:spcBef>
                <a:spcPts val="0"/>
              </a:spcBef>
              <a:spcAft>
                <a:spcPts val="0"/>
              </a:spcAft>
              <a:buSzPts val="1800"/>
              <a:buFont typeface="Times New Roman"/>
              <a:buChar char="●"/>
            </a:pPr>
            <a:r>
              <a:rPr lang="en" sz="1400" b="1" dirty="0">
                <a:ea typeface="Times New Roman"/>
                <a:cs typeface="Times New Roman" pitchFamily="18" charset="0"/>
                <a:sym typeface="Times New Roman"/>
              </a:rPr>
              <a:t>The driver drowsiness detection project is designed to prevent accidents caused by drivers becoming drowsy while driving. </a:t>
            </a:r>
          </a:p>
          <a:p>
            <a:pPr marL="457200" lvl="0" indent="-342900" algn="just" rtl="0">
              <a:spcBef>
                <a:spcPts val="0"/>
              </a:spcBef>
              <a:spcAft>
                <a:spcPts val="0"/>
              </a:spcAft>
              <a:buSzPts val="1800"/>
              <a:buFont typeface="Times New Roman"/>
              <a:buChar char="●"/>
            </a:pPr>
            <a:endParaRPr lang="en" sz="1400" b="1" dirty="0">
              <a:ea typeface="Times New Roman"/>
              <a:cs typeface="Times New Roman" pitchFamily="18" charset="0"/>
              <a:sym typeface="Times New Roman"/>
            </a:endParaRPr>
          </a:p>
          <a:p>
            <a:pPr marL="457200" lvl="0" indent="-342900" algn="just" rtl="0">
              <a:spcBef>
                <a:spcPts val="0"/>
              </a:spcBef>
              <a:spcAft>
                <a:spcPts val="0"/>
              </a:spcAft>
              <a:buSzPts val="1800"/>
              <a:buFont typeface="Times New Roman"/>
              <a:buChar char="●"/>
            </a:pPr>
            <a:r>
              <a:rPr lang="en" sz="1400" b="1" dirty="0">
                <a:ea typeface="Times New Roman"/>
                <a:cs typeface="Times New Roman" pitchFamily="18" charset="0"/>
                <a:sym typeface="Times New Roman"/>
              </a:rPr>
              <a:t>The project is built using Python programming language and utilizes the OpenCV library for computer vision tasks</a:t>
            </a:r>
            <a:r>
              <a:rPr lang="en" sz="1400" dirty="0">
                <a:ea typeface="Times New Roman"/>
                <a:cs typeface="Times New Roman" pitchFamily="18" charset="0"/>
                <a:sym typeface="Times New Roman"/>
              </a:rPr>
              <a:t>.</a:t>
            </a:r>
          </a:p>
          <a:p>
            <a:pPr marL="457200" lvl="0" indent="-342900" algn="just" rtl="0">
              <a:spcBef>
                <a:spcPts val="0"/>
              </a:spcBef>
              <a:spcAft>
                <a:spcPts val="0"/>
              </a:spcAft>
              <a:buSzPts val="1800"/>
              <a:buFont typeface="Times New Roman"/>
              <a:buChar char="●"/>
            </a:pPr>
            <a:endParaRPr lang="en" sz="1400" b="1" dirty="0">
              <a:ea typeface="Times New Roman"/>
              <a:cs typeface="Times New Roman" pitchFamily="18" charset="0"/>
              <a:sym typeface="Times New Roman"/>
            </a:endParaRPr>
          </a:p>
          <a:p>
            <a:pPr marL="457200" lvl="0" indent="-342900" algn="just" rtl="0">
              <a:spcBef>
                <a:spcPts val="0"/>
              </a:spcBef>
              <a:spcAft>
                <a:spcPts val="0"/>
              </a:spcAft>
              <a:buSzPts val="1800"/>
              <a:buFont typeface="Times New Roman"/>
              <a:buChar char="●"/>
            </a:pPr>
            <a:r>
              <a:rPr lang="en-US" sz="1400" b="1" dirty="0">
                <a:ea typeface="Times New Roman"/>
                <a:cs typeface="Times New Roman" pitchFamily="18" charset="0"/>
                <a:sym typeface="Times New Roman"/>
              </a:rPr>
              <a:t>The prevalence of driver drowsiness and its associated risks pose significant challenges to road safety. Fatigue-related accidents can have severe consequences, leading to injuries, loss of life, and property damage. </a:t>
            </a:r>
          </a:p>
          <a:p>
            <a:pPr marL="457200" lvl="0" indent="-342900" algn="just" rtl="0">
              <a:spcBef>
                <a:spcPts val="0"/>
              </a:spcBef>
              <a:spcAft>
                <a:spcPts val="0"/>
              </a:spcAft>
              <a:buSzPts val="1800"/>
              <a:buFont typeface="Times New Roman"/>
              <a:buChar char="●"/>
            </a:pPr>
            <a:endParaRPr lang="en-US" sz="1400" b="1" dirty="0">
              <a:ea typeface="Times New Roman"/>
              <a:cs typeface="Times New Roman" pitchFamily="18" charset="0"/>
              <a:sym typeface="Times New Roman"/>
            </a:endParaRPr>
          </a:p>
          <a:p>
            <a:pPr marL="457200" lvl="0" indent="-342900" algn="just" rtl="0">
              <a:spcBef>
                <a:spcPts val="0"/>
              </a:spcBef>
              <a:spcAft>
                <a:spcPts val="0"/>
              </a:spcAft>
              <a:buSzPts val="1800"/>
              <a:buFont typeface="Times New Roman"/>
              <a:buChar char="●"/>
            </a:pPr>
            <a:r>
              <a:rPr lang="en-US" sz="1400" b="1" dirty="0">
                <a:ea typeface="Times New Roman"/>
                <a:cs typeface="Times New Roman" pitchFamily="18" charset="0"/>
                <a:sym typeface="Times New Roman"/>
              </a:rPr>
              <a:t>To address this issue, the driver drowsiness detection project has been developed using Python and the OpenCV library. </a:t>
            </a:r>
            <a:endParaRPr sz="1400" b="1" dirty="0">
              <a:ea typeface="Times New Roman"/>
              <a:cs typeface="Times New Roman"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AB1F22-8B30-F8BE-7DBC-384B6312A217}"/>
              </a:ext>
            </a:extLst>
          </p:cNvPr>
          <p:cNvSpPr>
            <a:spLocks noGrp="1"/>
          </p:cNvSpPr>
          <p:nvPr>
            <p:ph type="title"/>
          </p:nvPr>
        </p:nvSpPr>
        <p:spPr/>
        <p:txBody>
          <a:bodyPr/>
          <a:lstStyle/>
          <a:p>
            <a:r>
              <a:rPr lang="en-US" dirty="0">
                <a:latin typeface="Times New Roman" pitchFamily="18" charset="0"/>
                <a:cs typeface="Times New Roman" pitchFamily="18" charset="0"/>
              </a:rPr>
              <a:t>MOTIVATION</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131311F2-77D2-2768-C893-EC97C2C931DC}"/>
              </a:ext>
            </a:extLst>
          </p:cNvPr>
          <p:cNvSpPr>
            <a:spLocks noGrp="1"/>
          </p:cNvSpPr>
          <p:nvPr>
            <p:ph idx="1"/>
          </p:nvPr>
        </p:nvSpPr>
        <p:spPr/>
        <p:txBody>
          <a:bodyPr>
            <a:normAutofit/>
          </a:bodyPr>
          <a:lstStyle/>
          <a:p>
            <a:pPr marL="0" indent="0">
              <a:buNone/>
            </a:pPr>
            <a:r>
              <a:rPr lang="en-US" sz="1400" b="1" dirty="0">
                <a:cs typeface="Times New Roman" pitchFamily="18" charset="0"/>
              </a:rPr>
              <a:t>The motivation behind the driver drowsiness detection project using machine learning stems from</a:t>
            </a:r>
          </a:p>
          <a:p>
            <a:r>
              <a:rPr lang="en-US" sz="1400" b="1" dirty="0">
                <a:cs typeface="Times New Roman" pitchFamily="18" charset="0"/>
              </a:rPr>
              <a:t>address the alarming rate of accidents caused by drowsy driving</a:t>
            </a:r>
          </a:p>
          <a:p>
            <a:r>
              <a:rPr lang="en-US" sz="1400" b="1" dirty="0">
                <a:cs typeface="Times New Roman" pitchFamily="18" charset="0"/>
              </a:rPr>
              <a:t>innovative solutions that can mitigate the risks associated with driver fatigue.</a:t>
            </a:r>
          </a:p>
          <a:p>
            <a:pPr marL="0" indent="0">
              <a:buNone/>
            </a:pPr>
            <a:r>
              <a:rPr lang="en-US" sz="1400" b="1" dirty="0">
                <a:cs typeface="Times New Roman" pitchFamily="18" charset="0"/>
              </a:rPr>
              <a:t>Ultimately, the primary goal of this project is to enhance road safety by providing timely alerts or interventions to prevent accidents caused by drowsy driving.</a:t>
            </a:r>
          </a:p>
          <a:p>
            <a:pPr marL="0" indent="0">
              <a:buNone/>
            </a:pPr>
            <a:endParaRPr lang="en-US" sz="14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000347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16" y="467492"/>
            <a:ext cx="6571060" cy="530223"/>
          </a:xfrm>
        </p:spPr>
        <p:txBody>
          <a:bodyPr/>
          <a:lstStyle/>
          <a:p>
            <a:r>
              <a:rPr lang="en-US" dirty="0">
                <a:latin typeface="Times New Roman" pitchFamily="18" charset="0"/>
                <a:cs typeface="Times New Roman" pitchFamily="18" charset="0"/>
              </a:rPr>
              <a:t>LITERARY SURVEY</a:t>
            </a:r>
          </a:p>
        </p:txBody>
      </p:sp>
      <p:graphicFrame>
        <p:nvGraphicFramePr>
          <p:cNvPr id="4" name="Content Placeholder 3"/>
          <p:cNvGraphicFramePr>
            <a:graphicFrameLocks noGrp="1"/>
          </p:cNvGraphicFramePr>
          <p:nvPr>
            <p:ph idx="1"/>
          </p:nvPr>
        </p:nvGraphicFramePr>
        <p:xfrm>
          <a:off x="125413" y="1568407"/>
          <a:ext cx="8892464" cy="3497580"/>
        </p:xfrm>
        <a:graphic>
          <a:graphicData uri="http://schemas.openxmlformats.org/drawingml/2006/table">
            <a:tbl>
              <a:tblPr firstRow="1" bandRow="1">
                <a:tableStyleId>{5C22544A-7EE6-4342-B048-85BDC9FD1C3A}</a:tableStyleId>
              </a:tblPr>
              <a:tblGrid>
                <a:gridCol w="809043">
                  <a:extLst>
                    <a:ext uri="{9D8B030D-6E8A-4147-A177-3AD203B41FA5}">
                      <a16:colId xmlns:a16="http://schemas.microsoft.com/office/drawing/2014/main" xmlns="" val="20000"/>
                    </a:ext>
                  </a:extLst>
                </a:gridCol>
                <a:gridCol w="1886132">
                  <a:extLst>
                    <a:ext uri="{9D8B030D-6E8A-4147-A177-3AD203B41FA5}">
                      <a16:colId xmlns:a16="http://schemas.microsoft.com/office/drawing/2014/main" xmlns="" val="20001"/>
                    </a:ext>
                  </a:extLst>
                </a:gridCol>
                <a:gridCol w="2640303">
                  <a:extLst>
                    <a:ext uri="{9D8B030D-6E8A-4147-A177-3AD203B41FA5}">
                      <a16:colId xmlns:a16="http://schemas.microsoft.com/office/drawing/2014/main" xmlns="" val="20002"/>
                    </a:ext>
                  </a:extLst>
                </a:gridCol>
                <a:gridCol w="1778493">
                  <a:extLst>
                    <a:ext uri="{9D8B030D-6E8A-4147-A177-3AD203B41FA5}">
                      <a16:colId xmlns:a16="http://schemas.microsoft.com/office/drawing/2014/main" xmlns="" val="20003"/>
                    </a:ext>
                  </a:extLst>
                </a:gridCol>
                <a:gridCol w="1778493">
                  <a:extLst>
                    <a:ext uri="{9D8B030D-6E8A-4147-A177-3AD203B41FA5}">
                      <a16:colId xmlns:a16="http://schemas.microsoft.com/office/drawing/2014/main" xmlns="" val="20004"/>
                    </a:ext>
                  </a:extLst>
                </a:gridCol>
              </a:tblGrid>
              <a:tr h="641609">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lt1"/>
                          </a:solidFill>
                          <a:latin typeface="Times New Roman" pitchFamily="18" charset="0"/>
                          <a:ea typeface="+mn-ea"/>
                          <a:cs typeface="Times New Roman" pitchFamily="18" charset="0"/>
                        </a:rPr>
                        <a:t>SL NO. 	</a:t>
                      </a:r>
                    </a:p>
                    <a:p>
                      <a:endParaRPr lang="en-US" dirty="0">
                        <a:latin typeface="Times New Roman" pitchFamily="18" charset="0"/>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lt1"/>
                          </a:solidFill>
                          <a:latin typeface="Times New Roman" pitchFamily="18" charset="0"/>
                          <a:ea typeface="+mn-ea"/>
                          <a:cs typeface="Times New Roman" pitchFamily="18" charset="0"/>
                        </a:rPr>
                        <a:t>         AUTHOR 	</a:t>
                      </a:r>
                    </a:p>
                    <a:p>
                      <a:r>
                        <a:rPr lang="en-US" dirty="0">
                          <a:latin typeface="Times New Roman" pitchFamily="18" charset="0"/>
                          <a:cs typeface="Times New Roman" pitchFamily="18" charset="0"/>
                        </a:rPr>
                        <a:t> </a:t>
                      </a: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lt1"/>
                          </a:solidFill>
                          <a:latin typeface="Times New Roman" pitchFamily="18" charset="0"/>
                          <a:ea typeface="+mn-ea"/>
                          <a:cs typeface="Times New Roman" pitchFamily="18" charset="0"/>
                        </a:rPr>
                        <a:t>          DESCRIPTION 	</a:t>
                      </a:r>
                    </a:p>
                    <a:p>
                      <a:endParaRPr lang="en-US" dirty="0">
                        <a:latin typeface="Times New Roman" pitchFamily="18" charset="0"/>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lt1"/>
                          </a:solidFill>
                          <a:latin typeface="Times New Roman" pitchFamily="18" charset="0"/>
                          <a:ea typeface="+mn-ea"/>
                          <a:cs typeface="Times New Roman" pitchFamily="18" charset="0"/>
                        </a:rPr>
                        <a:t>       ADVANTAGE 	</a:t>
                      </a:r>
                    </a:p>
                    <a:p>
                      <a:endParaRPr lang="en-US" dirty="0">
                        <a:latin typeface="Times New Roman" pitchFamily="18" charset="0"/>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lt1"/>
                          </a:solidFill>
                          <a:latin typeface="Times New Roman" pitchFamily="18" charset="0"/>
                          <a:ea typeface="+mn-ea"/>
                          <a:cs typeface="Times New Roman" pitchFamily="18" charset="0"/>
                        </a:rPr>
                        <a:t>DISADVANTAGE 	</a:t>
                      </a:r>
                    </a:p>
                    <a:p>
                      <a:endParaRPr lang="en-US" b="0" dirty="0">
                        <a:latin typeface="Times New Roman" pitchFamily="18" charset="0"/>
                        <a:cs typeface="Times New Roman" pitchFamily="18" charset="0"/>
                      </a:endParaRPr>
                    </a:p>
                  </a:txBody>
                  <a:tcPr/>
                </a:tc>
                <a:extLst>
                  <a:ext uri="{0D108BD9-81ED-4DB2-BD59-A6C34878D82A}">
                    <a16:rowId xmlns:a16="http://schemas.microsoft.com/office/drawing/2014/main" xmlns="" val="10000"/>
                  </a:ext>
                </a:extLst>
              </a:tr>
              <a:tr h="843513">
                <a:tc>
                  <a:txBody>
                    <a:bodyPr/>
                    <a:lstStyle/>
                    <a:p>
                      <a:r>
                        <a:rPr lang="en-US" b="1" dirty="0"/>
                        <a:t>1.</a:t>
                      </a: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Ceerthi Bala U.K and Sarath TV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This system will provide an alert to the driver in case of drowsiness detection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Once it is detected with the particular sensor, the system will alert the driver 	</a:t>
                      </a:r>
                    </a:p>
                    <a:p>
                      <a:endParaRPr lang="en-US" sz="1200"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dk1"/>
                          </a:solidFill>
                          <a:latin typeface="+mn-lt"/>
                          <a:ea typeface="+mn-ea"/>
                          <a:cs typeface="Times New Roman" pitchFamily="18" charset="0"/>
                        </a:rPr>
                        <a:t>Low Accuracy 	</a:t>
                      </a:r>
                    </a:p>
                    <a:p>
                      <a:endParaRPr lang="en-US" b="1" dirty="0">
                        <a:latin typeface="+mn-lt"/>
                        <a:cs typeface="Times New Roman" pitchFamily="18" charset="0"/>
                      </a:endParaRPr>
                    </a:p>
                  </a:txBody>
                  <a:tcPr/>
                </a:tc>
                <a:extLst>
                  <a:ext uri="{0D108BD9-81ED-4DB2-BD59-A6C34878D82A}">
                    <a16:rowId xmlns:a16="http://schemas.microsoft.com/office/drawing/2014/main" xmlns="" val="10001"/>
                  </a:ext>
                </a:extLst>
              </a:tr>
              <a:tr h="1435056">
                <a:tc>
                  <a:txBody>
                    <a:bodyPr/>
                    <a:lstStyle/>
                    <a:p>
                      <a:r>
                        <a:rPr lang="en-US" b="1" dirty="0"/>
                        <a:t>2.</a:t>
                      </a: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Rateb Jabbar et al </a:t>
                      </a:r>
                      <a:r>
                        <a:rPr lang="en-US" sz="1350" b="1" kern="1200" baseline="0" dirty="0">
                          <a:solidFill>
                            <a:schemeClr val="dk1"/>
                          </a:solidFill>
                          <a:latin typeface="+mn-lt"/>
                          <a:ea typeface="+mn-ea"/>
                          <a:cs typeface="Times New Roman" pitchFamily="18" charset="0"/>
                        </a:rPr>
                        <a:t>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Developed a drowsiness system model using CNN for mobile application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When developed model applies with the real time camera,the drowsiness can be detected considerably </a:t>
                      </a:r>
                      <a:r>
                        <a:rPr lang="en-US" sz="1350" b="1" kern="1200" baseline="0" dirty="0">
                          <a:solidFill>
                            <a:schemeClr val="dk1"/>
                          </a:solidFill>
                          <a:latin typeface="+mn-lt"/>
                          <a:ea typeface="+mn-ea"/>
                          <a:cs typeface="Times New Roman" pitchFamily="18" charset="0"/>
                        </a:rPr>
                        <a:t>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As a result, they found 88% accuracy without glass, and a glass system detects 85% accuracy 	</a:t>
                      </a:r>
                    </a:p>
                    <a:p>
                      <a:endParaRPr lang="en-US" sz="1200" b="1" dirty="0">
                        <a:latin typeface="+mn-lt"/>
                        <a:cs typeface="Times New Roman" pitchFamily="18" charset="0"/>
                      </a:endParaRPr>
                    </a:p>
                  </a:txBody>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LITERARY SURVEY</a:t>
            </a:r>
          </a:p>
        </p:txBody>
      </p:sp>
      <p:graphicFrame>
        <p:nvGraphicFramePr>
          <p:cNvPr id="4" name="Content Placeholder 3"/>
          <p:cNvGraphicFramePr>
            <a:graphicFrameLocks noGrp="1"/>
          </p:cNvGraphicFramePr>
          <p:nvPr>
            <p:ph idx="1"/>
          </p:nvPr>
        </p:nvGraphicFramePr>
        <p:xfrm>
          <a:off x="336550" y="1733550"/>
          <a:ext cx="8543925" cy="3314700"/>
        </p:xfrm>
        <a:graphic>
          <a:graphicData uri="http://schemas.openxmlformats.org/drawingml/2006/table">
            <a:tbl>
              <a:tblPr firstRow="1" bandRow="1">
                <a:tableStyleId>{5C22544A-7EE6-4342-B048-85BDC9FD1C3A}</a:tableStyleId>
              </a:tblPr>
              <a:tblGrid>
                <a:gridCol w="472747">
                  <a:extLst>
                    <a:ext uri="{9D8B030D-6E8A-4147-A177-3AD203B41FA5}">
                      <a16:colId xmlns:a16="http://schemas.microsoft.com/office/drawing/2014/main" xmlns="" val="20000"/>
                    </a:ext>
                  </a:extLst>
                </a:gridCol>
                <a:gridCol w="1355834">
                  <a:extLst>
                    <a:ext uri="{9D8B030D-6E8A-4147-A177-3AD203B41FA5}">
                      <a16:colId xmlns:a16="http://schemas.microsoft.com/office/drawing/2014/main" xmlns="" val="20001"/>
                    </a:ext>
                  </a:extLst>
                </a:gridCol>
                <a:gridCol w="2522483">
                  <a:extLst>
                    <a:ext uri="{9D8B030D-6E8A-4147-A177-3AD203B41FA5}">
                      <a16:colId xmlns:a16="http://schemas.microsoft.com/office/drawing/2014/main" xmlns="" val="20002"/>
                    </a:ext>
                  </a:extLst>
                </a:gridCol>
                <a:gridCol w="2484076">
                  <a:extLst>
                    <a:ext uri="{9D8B030D-6E8A-4147-A177-3AD203B41FA5}">
                      <a16:colId xmlns:a16="http://schemas.microsoft.com/office/drawing/2014/main" xmlns="" val="20003"/>
                    </a:ext>
                  </a:extLst>
                </a:gridCol>
                <a:gridCol w="1708785">
                  <a:extLst>
                    <a:ext uri="{9D8B030D-6E8A-4147-A177-3AD203B41FA5}">
                      <a16:colId xmlns:a16="http://schemas.microsoft.com/office/drawing/2014/main" xmlns="" val="20004"/>
                    </a:ext>
                  </a:extLst>
                </a:gridCol>
              </a:tblGrid>
              <a:tr h="370840">
                <a:tc>
                  <a:txBody>
                    <a:bodyPr/>
                    <a:lstStyle/>
                    <a:p>
                      <a:r>
                        <a:rPr lang="en-US" dirty="0">
                          <a:latin typeface="Times New Roman" pitchFamily="18" charset="0"/>
                          <a:cs typeface="Times New Roman" pitchFamily="18" charset="0"/>
                        </a:rPr>
                        <a:t>SL NO</a:t>
                      </a:r>
                    </a:p>
                  </a:txBody>
                  <a:tcPr/>
                </a:tc>
                <a:tc>
                  <a:txBody>
                    <a:bodyPr/>
                    <a:lstStyle/>
                    <a:p>
                      <a:r>
                        <a:rPr lang="en-US" dirty="0">
                          <a:latin typeface="Times New Roman" pitchFamily="18" charset="0"/>
                          <a:cs typeface="Times New Roman" pitchFamily="18" charset="0"/>
                        </a:rPr>
                        <a:t>   AUTHOR</a:t>
                      </a:r>
                    </a:p>
                  </a:txBody>
                  <a:tcPr/>
                </a:tc>
                <a:tc>
                  <a:txBody>
                    <a:bodyPr/>
                    <a:lstStyle/>
                    <a:p>
                      <a:r>
                        <a:rPr lang="en-US" dirty="0">
                          <a:latin typeface="Times New Roman" pitchFamily="18" charset="0"/>
                          <a:cs typeface="Times New Roman" pitchFamily="18" charset="0"/>
                        </a:rPr>
                        <a:t>           DESCRIPTION</a:t>
                      </a:r>
                    </a:p>
                  </a:txBody>
                  <a:tcPr/>
                </a:tc>
                <a:tc>
                  <a:txBody>
                    <a:bodyPr/>
                    <a:lstStyle/>
                    <a:p>
                      <a:r>
                        <a:rPr lang="en-US" dirty="0">
                          <a:latin typeface="Times New Roman" pitchFamily="18" charset="0"/>
                          <a:cs typeface="Times New Roman" pitchFamily="18" charset="0"/>
                        </a:rPr>
                        <a:t>            ADVANTAGE</a:t>
                      </a:r>
                    </a:p>
                  </a:txBody>
                  <a:tcPr/>
                </a:tc>
                <a:tc>
                  <a:txBody>
                    <a:bodyPr/>
                    <a:lstStyle/>
                    <a:p>
                      <a:r>
                        <a:rPr lang="en-US" dirty="0">
                          <a:latin typeface="Times New Roman" pitchFamily="18" charset="0"/>
                          <a:cs typeface="Times New Roman" pitchFamily="18" charset="0"/>
                        </a:rPr>
                        <a:t>DISADVANTAGE</a:t>
                      </a:r>
                    </a:p>
                  </a:txBody>
                  <a:tcPr/>
                </a:tc>
                <a:extLst>
                  <a:ext uri="{0D108BD9-81ED-4DB2-BD59-A6C34878D82A}">
                    <a16:rowId xmlns:a16="http://schemas.microsoft.com/office/drawing/2014/main" xmlns="" val="10000"/>
                  </a:ext>
                </a:extLst>
              </a:tr>
              <a:tr h="370840">
                <a:tc>
                  <a:txBody>
                    <a:bodyPr/>
                    <a:lstStyle/>
                    <a:p>
                      <a:r>
                        <a:rPr lang="en-US" b="1" dirty="0">
                          <a:latin typeface="+mn-lt"/>
                          <a:cs typeface="Times New Roman" pitchFamily="18" charset="0"/>
                        </a:rPr>
                        <a:t>3.</a:t>
                      </a: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Dr.K.S.Tiwari 	</a:t>
                      </a:r>
                    </a:p>
                    <a:p>
                      <a:pPr marL="0" marR="0" indent="0" algn="l" defTabSz="342900" rtl="0" eaLnBrk="1" fontAlgn="auto" latinLnBrk="0" hangingPunct="1">
                        <a:lnSpc>
                          <a:spcPct val="100000"/>
                        </a:lnSpc>
                        <a:spcBef>
                          <a:spcPts val="0"/>
                        </a:spcBef>
                        <a:spcAft>
                          <a:spcPts val="0"/>
                        </a:spcAft>
                        <a:buClrTx/>
                        <a:buSzTx/>
                        <a:buFontTx/>
                        <a:buNone/>
                        <a:tabLst/>
                        <a:defRPr/>
                      </a:pPr>
                      <a:endParaRPr lang="en-US" sz="1200" b="1" kern="1200" baseline="0" dirty="0">
                        <a:solidFill>
                          <a:schemeClr val="dk1"/>
                        </a:solidFill>
                        <a:latin typeface="+mn-lt"/>
                        <a:ea typeface="+mn-ea"/>
                        <a:cs typeface="Times New Roman" pitchFamily="18" charset="0"/>
                      </a:endParaRP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A study to identify drowsiness detection with IoT technology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A buzzer and camera placed with a microcontroller continuously monitor the drowsiness with the necessary parameters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It was not detected with glass 	</a:t>
                      </a:r>
                    </a:p>
                    <a:p>
                      <a:endParaRPr lang="en-US" b="1" dirty="0">
                        <a:latin typeface="+mn-lt"/>
                        <a:cs typeface="Times New Roman" pitchFamily="18" charset="0"/>
                      </a:endParaRPr>
                    </a:p>
                  </a:txBody>
                  <a:tcPr/>
                </a:tc>
                <a:extLst>
                  <a:ext uri="{0D108BD9-81ED-4DB2-BD59-A6C34878D82A}">
                    <a16:rowId xmlns:a16="http://schemas.microsoft.com/office/drawing/2014/main" xmlns="" val="10001"/>
                  </a:ext>
                </a:extLst>
              </a:tr>
              <a:tr h="370840">
                <a:tc>
                  <a:txBody>
                    <a:bodyPr/>
                    <a:lstStyle/>
                    <a:p>
                      <a:r>
                        <a:rPr lang="en-US" b="1" dirty="0">
                          <a:latin typeface="+mn-lt"/>
                          <a:cs typeface="Times New Roman" pitchFamily="18" charset="0"/>
                        </a:rPr>
                        <a:t>4.</a:t>
                      </a: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Md. Yousuf Husain and Fabian Parsia George </a:t>
                      </a:r>
                      <a:r>
                        <a:rPr lang="en-US" sz="1350" b="1" kern="1200" baseline="0" dirty="0">
                          <a:solidFill>
                            <a:schemeClr val="dk1"/>
                          </a:solidFill>
                          <a:latin typeface="+mn-lt"/>
                          <a:ea typeface="+mn-ea"/>
                          <a:cs typeface="Times New Roman" pitchFamily="18" charset="0"/>
                        </a:rPr>
                        <a:t>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A Raspberry Pi controller pretends as a hub of this system. A camera module, buzzer, and IoT devices are connected with the controller. 	</a:t>
                      </a:r>
                    </a:p>
                    <a:p>
                      <a:pPr marL="0" marR="0" indent="0" algn="l" defTabSz="342900" rtl="0" eaLnBrk="1" fontAlgn="auto" latinLnBrk="0" hangingPunct="1">
                        <a:lnSpc>
                          <a:spcPct val="100000"/>
                        </a:lnSpc>
                        <a:spcBef>
                          <a:spcPts val="0"/>
                        </a:spcBef>
                        <a:spcAft>
                          <a:spcPts val="0"/>
                        </a:spcAft>
                        <a:buClrTx/>
                        <a:buSzTx/>
                        <a:buFontTx/>
                        <a:buNone/>
                        <a:tabLst/>
                        <a:defRPr/>
                      </a:pPr>
                      <a:r>
                        <a:rPr lang="en-US" sz="1350" b="1" kern="1200" baseline="0" dirty="0">
                          <a:solidFill>
                            <a:schemeClr val="dk1"/>
                          </a:solidFill>
                          <a:latin typeface="+mn-lt"/>
                          <a:ea typeface="+mn-ea"/>
                          <a:cs typeface="Times New Roman" pitchFamily="18" charset="0"/>
                        </a:rPr>
                        <a:t>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A Raspberry Pi controller pretends as a hub of this system. A camera module, buzzer, and IoT devices are connected with the controller 	</a:t>
                      </a:r>
                    </a:p>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 </a:t>
                      </a:r>
                      <a:r>
                        <a:rPr lang="en-US" sz="1350" b="1" kern="1200" baseline="0" dirty="0">
                          <a:solidFill>
                            <a:schemeClr val="dk1"/>
                          </a:solidFill>
                          <a:latin typeface="+mn-lt"/>
                          <a:ea typeface="+mn-ea"/>
                          <a:cs typeface="Times New Roman" pitchFamily="18" charset="0"/>
                        </a:rPr>
                        <a:t>	</a:t>
                      </a:r>
                    </a:p>
                    <a:p>
                      <a:endParaRPr lang="en-US" b="1" dirty="0">
                        <a:latin typeface="+mn-lt"/>
                        <a:cs typeface="Times New Roman" pitchFamily="18" charset="0"/>
                      </a:endParaRPr>
                    </a:p>
                  </a:txBody>
                  <a:tcPr/>
                </a:tc>
                <a:tc>
                  <a:txBody>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dk1"/>
                          </a:solidFill>
                          <a:latin typeface="+mn-lt"/>
                          <a:ea typeface="+mn-ea"/>
                          <a:cs typeface="Times New Roman" pitchFamily="18" charset="0"/>
                        </a:rPr>
                        <a:t>Mail sent to other person 	</a:t>
                      </a:r>
                    </a:p>
                    <a:p>
                      <a:endParaRPr lang="en-US" b="1" dirty="0">
                        <a:latin typeface="+mn-lt"/>
                        <a:cs typeface="Times New Roman" pitchFamily="18" charset="0"/>
                      </a:endParaRPr>
                    </a:p>
                  </a:txBody>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a:ea typeface="Times New Roman"/>
                <a:cs typeface="Times New Roman"/>
                <a:sym typeface="Times New Roman"/>
              </a:rPr>
              <a:t>OBJECTIVE</a:t>
            </a:r>
            <a:endParaRPr dirty="0">
              <a:latin typeface="Times New Roman"/>
              <a:ea typeface="Times New Roman"/>
              <a:cs typeface="Times New Roman"/>
              <a:sym typeface="Times New Roman"/>
            </a:endParaRPr>
          </a:p>
        </p:txBody>
      </p:sp>
      <p:sp>
        <p:nvSpPr>
          <p:cNvPr id="77" name="Google Shape;77;p16"/>
          <p:cNvSpPr txBox="1">
            <a:spLocks noGrp="1"/>
          </p:cNvSpPr>
          <p:nvPr>
            <p:ph idx="1"/>
          </p:nvPr>
        </p:nvSpPr>
        <p:spPr>
          <a:prstGeom prst="rect">
            <a:avLst/>
          </a:prstGeom>
        </p:spPr>
        <p:txBody>
          <a:bodyPr spcFirstLastPara="1" wrap="square" lIns="91425" tIns="91425" rIns="91425" bIns="91425" anchor="t" anchorCtr="0">
            <a:normAutofit/>
          </a:bodyPr>
          <a:lstStyle/>
          <a:p>
            <a:pPr marL="457200" lvl="0" indent="-342900" algn="just" rtl="0">
              <a:spcBef>
                <a:spcPts val="0"/>
              </a:spcBef>
              <a:spcAft>
                <a:spcPts val="0"/>
              </a:spcAft>
              <a:buSzPts val="1800"/>
              <a:buFont typeface="Times New Roman"/>
              <a:buChar char="●"/>
            </a:pPr>
            <a:r>
              <a:rPr lang="en" sz="1400" b="1" dirty="0">
                <a:ea typeface="Times New Roman"/>
                <a:cs typeface="Times New Roman" pitchFamily="18" charset="0"/>
                <a:sym typeface="Times New Roman"/>
              </a:rPr>
              <a:t>The proposed system aims to bridge the gap between driver drowsiness detection  by integrating the insights from both domains. It leverages the existing driver drowsiness detection framework.</a:t>
            </a:r>
          </a:p>
          <a:p>
            <a:pPr marL="457200" lvl="0" indent="-342900" algn="just" rtl="0">
              <a:spcBef>
                <a:spcPts val="0"/>
              </a:spcBef>
              <a:spcAft>
                <a:spcPts val="0"/>
              </a:spcAft>
              <a:buSzPts val="1800"/>
              <a:buFont typeface="Times New Roman"/>
              <a:buChar char="●"/>
            </a:pPr>
            <a:endParaRPr lang="en" sz="1400" b="1" dirty="0">
              <a:ea typeface="Times New Roman"/>
              <a:cs typeface="Times New Roman" pitchFamily="18" charset="0"/>
              <a:sym typeface="Times New Roman"/>
            </a:endParaRPr>
          </a:p>
          <a:p>
            <a:pPr marL="457200" lvl="0" indent="-342900" algn="just" rtl="0">
              <a:spcBef>
                <a:spcPts val="0"/>
              </a:spcBef>
              <a:spcAft>
                <a:spcPts val="0"/>
              </a:spcAft>
              <a:buSzPts val="1800"/>
              <a:buFont typeface="Times New Roman"/>
              <a:buChar char="●"/>
            </a:pPr>
            <a:r>
              <a:rPr lang="en-US" sz="1400" b="1" dirty="0">
                <a:ea typeface="Times New Roman"/>
                <a:cs typeface="Times New Roman" pitchFamily="18" charset="0"/>
                <a:sym typeface="Times New Roman"/>
              </a:rPr>
              <a:t> The main objective is to first design a system to detect driver’s drowsiness by continuously monitoring retina of the eye.</a:t>
            </a:r>
          </a:p>
          <a:p>
            <a:pPr marL="457200" lvl="0" indent="-342900" algn="just" rtl="0">
              <a:spcBef>
                <a:spcPts val="0"/>
              </a:spcBef>
              <a:spcAft>
                <a:spcPts val="0"/>
              </a:spcAft>
              <a:buSzPts val="1800"/>
              <a:buFont typeface="Times New Roman"/>
              <a:buChar char="●"/>
            </a:pPr>
            <a:endParaRPr lang="en" sz="1400" b="1" dirty="0">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67400" y="484950"/>
            <a:ext cx="8354400" cy="72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PROBLEM STATEMENT:</a:t>
            </a:r>
            <a:endParaRPr dirty="0">
              <a:latin typeface="Times New Roman"/>
              <a:ea typeface="Times New Roman"/>
              <a:cs typeface="Times New Roman"/>
              <a:sym typeface="Times New Roman"/>
            </a:endParaRPr>
          </a:p>
        </p:txBody>
      </p:sp>
      <p:sp>
        <p:nvSpPr>
          <p:cNvPr id="65" name="Google Shape;65;p14"/>
          <p:cNvSpPr txBox="1">
            <a:spLocks noGrp="1"/>
          </p:cNvSpPr>
          <p:nvPr>
            <p:ph type="body" idx="1"/>
          </p:nvPr>
        </p:nvSpPr>
        <p:spPr>
          <a:xfrm>
            <a:off x="367397" y="1744980"/>
            <a:ext cx="8009100" cy="2781270"/>
          </a:xfrm>
          <a:prstGeom prst="rect">
            <a:avLst/>
          </a:prstGeom>
        </p:spPr>
        <p:txBody>
          <a:bodyPr spcFirstLastPara="1" wrap="square" lIns="91425" tIns="91425" rIns="91425" bIns="91425" anchor="t" anchorCtr="0">
            <a:normAutofit/>
          </a:bodyPr>
          <a:lstStyle/>
          <a:p>
            <a:pPr lvl="0" algn="just" rtl="0">
              <a:spcBef>
                <a:spcPts val="0"/>
              </a:spcBef>
              <a:spcAft>
                <a:spcPts val="0"/>
              </a:spcAft>
              <a:buSzPts val="1800"/>
              <a:buFont typeface="Arial" panose="020B0604020202020204" pitchFamily="34" charset="0"/>
              <a:buChar char="•"/>
            </a:pPr>
            <a:r>
              <a:rPr lang="en" sz="1400" b="1" dirty="0">
                <a:latin typeface="+mj-lt"/>
                <a:ea typeface="Times New Roman"/>
                <a:cs typeface="Times New Roman" pitchFamily="18" charset="0"/>
                <a:sym typeface="Times New Roman"/>
              </a:rPr>
              <a:t>The prevalence of driver drowsiness and its associated risks pose significant challenges to road safety. Fatigue-related accidents can have severe consequences, leading to injuries, loss of life, and property damage.</a:t>
            </a:r>
          </a:p>
          <a:p>
            <a:pPr lvl="0" algn="just" rtl="0">
              <a:spcBef>
                <a:spcPts val="0"/>
              </a:spcBef>
              <a:spcAft>
                <a:spcPts val="0"/>
              </a:spcAft>
              <a:buSzPts val="1800"/>
              <a:buFont typeface="Arial" panose="020B0604020202020204" pitchFamily="34" charset="0"/>
              <a:buChar char="•"/>
            </a:pPr>
            <a:endParaRPr sz="1400" b="1" dirty="0">
              <a:latin typeface="+mj-lt"/>
              <a:ea typeface="Times New Roman"/>
              <a:cs typeface="Times New Roman" pitchFamily="18" charset="0"/>
              <a:sym typeface="Times New Roman"/>
            </a:endParaRPr>
          </a:p>
          <a:p>
            <a:pPr lvl="0" algn="just" rtl="0">
              <a:spcBef>
                <a:spcPts val="0"/>
              </a:spcBef>
              <a:spcAft>
                <a:spcPts val="0"/>
              </a:spcAft>
              <a:buSzPts val="1800"/>
              <a:buFont typeface="Arial" panose="020B0604020202020204" pitchFamily="34" charset="0"/>
              <a:buChar char="•"/>
            </a:pPr>
            <a:r>
              <a:rPr lang="en" sz="1400" b="1" dirty="0">
                <a:latin typeface="+mj-lt"/>
                <a:ea typeface="Times New Roman"/>
                <a:cs typeface="Times New Roman" pitchFamily="18" charset="0"/>
                <a:sym typeface="Times New Roman"/>
              </a:rPr>
              <a:t>To address this issue, the driver drowsiness detection project has been developed.By leveraging computer vision techniques, this project aims to detect signs of drowsiness in drivers and prevent accidents caused by driver fatigu</a:t>
            </a:r>
            <a:r>
              <a:rPr lang="en" sz="1400" b="1" dirty="0">
                <a:latin typeface="+mj-lt"/>
                <a:cs typeface="Times New Roman" pitchFamily="18" charset="0"/>
              </a:rPr>
              <a:t>e</a:t>
            </a:r>
            <a:r>
              <a:rPr lang="en" sz="1400" b="1" dirty="0">
                <a:latin typeface="Times New Roman" pitchFamily="18" charset="0"/>
                <a:cs typeface="Times New Roman" pitchFamily="18" charset="0"/>
              </a:rPr>
              <a:t>.</a:t>
            </a:r>
            <a:endParaRPr sz="1400" b="1"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E86042-8675-8CB2-3D1E-A87525D078EB}"/>
              </a:ext>
            </a:extLst>
          </p:cNvPr>
          <p:cNvSpPr>
            <a:spLocks noGrp="1"/>
          </p:cNvSpPr>
          <p:nvPr>
            <p:ph type="title"/>
          </p:nvPr>
        </p:nvSpPr>
        <p:spPr/>
        <p:txBody>
          <a:bodyPr>
            <a:normAutofit fontScale="90000"/>
          </a:bodyPr>
          <a:lstStyle/>
          <a:p>
            <a:r>
              <a:rPr lang="en-US" dirty="0">
                <a:latin typeface="Times New Roman" pitchFamily="18" charset="0"/>
                <a:cs typeface="Times New Roman" pitchFamily="18" charset="0"/>
              </a:rPr>
              <a:t>PROPOSED SYSTEM</a:t>
            </a:r>
            <a:br>
              <a:rPr lang="en-US"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EC233BD0-019B-A85D-7C67-143DAAA934D7}"/>
              </a:ext>
            </a:extLst>
          </p:cNvPr>
          <p:cNvSpPr>
            <a:spLocks noGrp="1"/>
          </p:cNvSpPr>
          <p:nvPr>
            <p:ph idx="1"/>
          </p:nvPr>
        </p:nvSpPr>
        <p:spPr>
          <a:xfrm>
            <a:off x="800100" y="1744980"/>
            <a:ext cx="7543800" cy="2781300"/>
          </a:xfrm>
        </p:spPr>
        <p:txBody>
          <a:bodyPr>
            <a:normAutofit/>
          </a:bodyPr>
          <a:lstStyle/>
          <a:p>
            <a:r>
              <a:rPr lang="en-US" sz="1400" b="1" dirty="0">
                <a:latin typeface="+mj-lt"/>
                <a:cs typeface="Times New Roman" pitchFamily="18" charset="0"/>
              </a:rPr>
              <a:t>Visual object tracking</a:t>
            </a:r>
          </a:p>
          <a:p>
            <a:r>
              <a:rPr lang="en-US" sz="1400" b="1" dirty="0">
                <a:latin typeface="+mj-lt"/>
                <a:cs typeface="Times New Roman" pitchFamily="18" charset="0"/>
              </a:rPr>
              <a:t>Facial landmarks recognition</a:t>
            </a:r>
          </a:p>
          <a:p>
            <a:r>
              <a:rPr lang="en-US" sz="1400" b="1" dirty="0">
                <a:latin typeface="+mj-lt"/>
                <a:cs typeface="Times New Roman" pitchFamily="18" charset="0"/>
              </a:rPr>
              <a:t>Driver drowsiness detection</a:t>
            </a:r>
          </a:p>
          <a:p>
            <a:r>
              <a:rPr lang="en-US" sz="1400" b="1" dirty="0">
                <a:latin typeface="+mj-lt"/>
                <a:cs typeface="Times New Roman" pitchFamily="18" charset="0"/>
              </a:rPr>
              <a:t>Determination of eyes and mouth regions : The region of the eyes, Evaluation of the driver’s fatigue state</a:t>
            </a:r>
          </a:p>
          <a:p>
            <a:r>
              <a:rPr lang="en-US" sz="1400" b="1" dirty="0">
                <a:latin typeface="+mj-lt"/>
                <a:cs typeface="Times New Roman" pitchFamily="18" charset="0"/>
              </a:rPr>
              <a:t>Eye </a:t>
            </a:r>
            <a:r>
              <a:rPr lang="en-US" sz="1400" b="1">
                <a:latin typeface="+mj-lt"/>
                <a:cs typeface="Times New Roman" pitchFamily="18" charset="0"/>
              </a:rPr>
              <a:t>status recognition</a:t>
            </a:r>
            <a:endParaRPr lang="en-US" sz="1400" b="1" dirty="0">
              <a:latin typeface="+mj-lt"/>
              <a:cs typeface="Times New Roman" pitchFamily="18" charset="0"/>
            </a:endParaRPr>
          </a:p>
          <a:p>
            <a:r>
              <a:rPr lang="en-US" sz="1400" b="1" dirty="0">
                <a:latin typeface="+mj-lt"/>
                <a:cs typeface="Times New Roman" pitchFamily="18" charset="0"/>
              </a:rPr>
              <a:t>Alarm Sound</a:t>
            </a:r>
          </a:p>
          <a:p>
            <a:r>
              <a:rPr lang="en-US" sz="1400" b="1" dirty="0">
                <a:latin typeface="+mj-lt"/>
                <a:cs typeface="Times New Roman" pitchFamily="18" charset="0"/>
              </a:rPr>
              <a:t>Self Mode alert</a:t>
            </a:r>
          </a:p>
          <a:p>
            <a:endParaRPr lang="en-IN" sz="1400" dirty="0">
              <a:cs typeface="Times New Roman" panose="02020603050405020304" pitchFamily="18" charset="0"/>
            </a:endParaRPr>
          </a:p>
        </p:txBody>
      </p:sp>
    </p:spTree>
    <p:extLst>
      <p:ext uri="{BB962C8B-B14F-4D97-AF65-F5344CB8AC3E}">
        <p14:creationId xmlns:p14="http://schemas.microsoft.com/office/powerpoint/2010/main" xmlns="" val="1863942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SYSTEM DESIGN</a:t>
            </a:r>
            <a:endParaRPr>
              <a:latin typeface="Times New Roman"/>
              <a:ea typeface="Times New Roman"/>
              <a:cs typeface="Times New Roman"/>
              <a:sym typeface="Times New Roman"/>
            </a:endParaRPr>
          </a:p>
        </p:txBody>
      </p:sp>
      <p:pic>
        <p:nvPicPr>
          <p:cNvPr id="5" name="Content Placeholder 4" descr="new.JPG"/>
          <p:cNvPicPr>
            <a:picLocks noGrp="1" noChangeAspect="1"/>
          </p:cNvPicPr>
          <p:nvPr>
            <p:ph idx="1"/>
          </p:nvPr>
        </p:nvPicPr>
        <p:blipFill>
          <a:blip r:embed="rId3"/>
          <a:stretch>
            <a:fillRect/>
          </a:stretch>
        </p:blipFill>
        <p:spPr>
          <a:xfrm>
            <a:off x="515007" y="1742418"/>
            <a:ext cx="7955792" cy="294519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277200" y="457199"/>
            <a:ext cx="8589600" cy="695325"/>
          </a:xfrm>
          <a:prstGeom prst="rect">
            <a:avLst/>
          </a:prstGeom>
        </p:spPr>
        <p:txBody>
          <a:bodyPr spcFirstLastPara="1" wrap="square" lIns="91425" tIns="91425" rIns="91425" bIns="91425" anchor="t" anchorCtr="0">
            <a:normAutofit fontScale="90000"/>
          </a:bodyPr>
          <a:lstStyle/>
          <a:p>
            <a:pPr marL="0" lvl="0" indent="0" algn="just" rtl="0">
              <a:spcBef>
                <a:spcPts val="0"/>
              </a:spcBef>
              <a:spcAft>
                <a:spcPts val="0"/>
              </a:spcAft>
              <a:buNone/>
            </a:pPr>
            <a:r>
              <a:rPr lang="en" sz="2400" dirty="0">
                <a:ea typeface="Times New Roman"/>
                <a:cs typeface="Times New Roman"/>
                <a:sym typeface="Times New Roman"/>
              </a:rPr>
              <a:t>COMPONENTS OF DRIVER DROWSINESS DETECTION SYSTEM</a:t>
            </a:r>
            <a:endParaRPr sz="2400" dirty="0">
              <a:ea typeface="Times New Roman"/>
              <a:cs typeface="Times New Roman"/>
              <a:sym typeface="Times New Roman"/>
            </a:endParaRPr>
          </a:p>
        </p:txBody>
      </p:sp>
      <p:sp>
        <p:nvSpPr>
          <p:cNvPr id="83" name="Google Shape;83;p17"/>
          <p:cNvSpPr txBox="1">
            <a:spLocks noGrp="1"/>
          </p:cNvSpPr>
          <p:nvPr>
            <p:ph type="body" idx="1"/>
          </p:nvPr>
        </p:nvSpPr>
        <p:spPr>
          <a:xfrm>
            <a:off x="548639" y="1676399"/>
            <a:ext cx="7968685" cy="3009901"/>
          </a:xfrm>
          <a:prstGeom prst="rect">
            <a:avLst/>
          </a:prstGeom>
        </p:spPr>
        <p:txBody>
          <a:bodyPr spcFirstLastPara="1" wrap="square" lIns="91425" tIns="91425" rIns="91425" bIns="91425" anchor="t" anchorCtr="0">
            <a:normAutofit fontScale="32500" lnSpcReduction="20000"/>
          </a:bodyPr>
          <a:lstStyle/>
          <a:p>
            <a:pPr marL="457200" lvl="0" indent="-341709" algn="just" rtl="0">
              <a:lnSpc>
                <a:spcPct val="115000"/>
              </a:lnSpc>
              <a:spcBef>
                <a:spcPts val="0"/>
              </a:spcBef>
              <a:spcAft>
                <a:spcPts val="0"/>
              </a:spcAft>
              <a:buSzPct val="100000"/>
              <a:buFont typeface="Times New Roman"/>
              <a:buChar char="●"/>
            </a:pPr>
            <a:r>
              <a:rPr lang="en" sz="4300" b="1" dirty="0">
                <a:ea typeface="Times New Roman"/>
                <a:cs typeface="Times New Roman"/>
                <a:sym typeface="Times New Roman"/>
              </a:rPr>
              <a:t>Data Collection:Capture frames from a camera feed using OpenCV's VideoCapture module. Convert the frames to grayscale for better processing efficiency.</a:t>
            </a:r>
          </a:p>
          <a:p>
            <a:pPr marL="457200" lvl="0" indent="-341709" algn="just" rtl="0">
              <a:lnSpc>
                <a:spcPct val="115000"/>
              </a:lnSpc>
              <a:spcBef>
                <a:spcPts val="0"/>
              </a:spcBef>
              <a:spcAft>
                <a:spcPts val="0"/>
              </a:spcAft>
              <a:buSzPct val="100000"/>
              <a:buFont typeface="Times New Roman"/>
              <a:buChar char="●"/>
            </a:pPr>
            <a:endParaRPr sz="4300" b="1" dirty="0">
              <a:ea typeface="Times New Roman"/>
              <a:cs typeface="Times New Roman"/>
              <a:sym typeface="Times New Roman"/>
            </a:endParaRPr>
          </a:p>
          <a:p>
            <a:pPr marL="457200" lvl="0" indent="-341709" algn="just" rtl="0">
              <a:lnSpc>
                <a:spcPct val="115000"/>
              </a:lnSpc>
              <a:spcBef>
                <a:spcPts val="0"/>
              </a:spcBef>
              <a:spcAft>
                <a:spcPts val="0"/>
              </a:spcAft>
              <a:buSzPct val="100000"/>
              <a:buFont typeface="Times New Roman"/>
              <a:buChar char="●"/>
            </a:pPr>
            <a:r>
              <a:rPr lang="en" sz="4300" b="1" dirty="0">
                <a:ea typeface="Times New Roman"/>
                <a:cs typeface="Times New Roman"/>
                <a:sym typeface="Times New Roman"/>
              </a:rPr>
              <a:t>Face and Eye Detection: Utilize Haar cascade classifiers for face and eye detection. Apply the cascades to identify faces and eyes in the grayscale frames.</a:t>
            </a:r>
          </a:p>
          <a:p>
            <a:pPr marL="457200" lvl="0" indent="-341709" algn="just" rtl="0">
              <a:lnSpc>
                <a:spcPct val="115000"/>
              </a:lnSpc>
              <a:spcBef>
                <a:spcPts val="0"/>
              </a:spcBef>
              <a:spcAft>
                <a:spcPts val="0"/>
              </a:spcAft>
              <a:buSzPct val="100000"/>
              <a:buFont typeface="Times New Roman"/>
              <a:buChar char="●"/>
            </a:pPr>
            <a:endParaRPr sz="4300" b="1" dirty="0">
              <a:ea typeface="Times New Roman"/>
              <a:cs typeface="Times New Roman"/>
              <a:sym typeface="Times New Roman"/>
            </a:endParaRPr>
          </a:p>
          <a:p>
            <a:pPr marL="457200" lvl="0" indent="-341709" algn="just" rtl="0">
              <a:lnSpc>
                <a:spcPct val="115000"/>
              </a:lnSpc>
              <a:spcBef>
                <a:spcPts val="0"/>
              </a:spcBef>
              <a:spcAft>
                <a:spcPts val="0"/>
              </a:spcAft>
              <a:buSzPct val="100000"/>
              <a:buFont typeface="Times New Roman"/>
              <a:buChar char="●"/>
            </a:pPr>
            <a:r>
              <a:rPr lang="en" sz="4300" b="1" dirty="0">
                <a:ea typeface="Times New Roman"/>
                <a:cs typeface="Times New Roman"/>
                <a:sym typeface="Times New Roman"/>
              </a:rPr>
              <a:t>Drowsiness Detection:Calculate the Eye Aspect Ratio (EAR) to determine eye openness.Monitor the EAR over a time interval to track eye activity.If the EAR drops below a threshold for a certain period, trigger drowsiness alert.</a:t>
            </a:r>
          </a:p>
          <a:p>
            <a:pPr marL="457200" lvl="0" indent="-341709" algn="just" rtl="0">
              <a:lnSpc>
                <a:spcPct val="115000"/>
              </a:lnSpc>
              <a:spcBef>
                <a:spcPts val="0"/>
              </a:spcBef>
              <a:spcAft>
                <a:spcPts val="0"/>
              </a:spcAft>
              <a:buSzPct val="100000"/>
              <a:buFont typeface="Times New Roman"/>
              <a:buChar char="●"/>
            </a:pPr>
            <a:endParaRPr sz="4300" b="1" dirty="0">
              <a:ea typeface="Times New Roman"/>
              <a:cs typeface="Times New Roman"/>
              <a:sym typeface="Times New Roman"/>
            </a:endParaRPr>
          </a:p>
          <a:p>
            <a:pPr marL="457200" lvl="0" indent="-341709" algn="just" rtl="0">
              <a:lnSpc>
                <a:spcPct val="115000"/>
              </a:lnSpc>
              <a:spcBef>
                <a:spcPts val="0"/>
              </a:spcBef>
              <a:spcAft>
                <a:spcPts val="0"/>
              </a:spcAft>
              <a:buSzPct val="100000"/>
              <a:buFont typeface="Times New Roman"/>
              <a:buChar char="●"/>
            </a:pPr>
            <a:r>
              <a:rPr lang="en" sz="4300" b="1" dirty="0">
                <a:ea typeface="Times New Roman"/>
                <a:cs typeface="Times New Roman"/>
                <a:sym typeface="Times New Roman"/>
              </a:rPr>
              <a:t>Alert Mechanism:Emit a sound alarm to warn the driver of potential drowsiness.Display visual alerts on the screen, such as blinking text or icons</a:t>
            </a:r>
            <a:r>
              <a:rPr lang="en" sz="4300" b="1" dirty="0">
                <a:latin typeface="Times New Roman"/>
                <a:ea typeface="Times New Roman"/>
                <a:cs typeface="Times New Roman"/>
                <a:sym typeface="Times New Roman"/>
              </a:rPr>
              <a:t>.</a:t>
            </a:r>
            <a:endParaRPr sz="4300" b="1" dirty="0">
              <a:latin typeface="Times New Roman"/>
              <a:ea typeface="Times New Roman"/>
              <a:cs typeface="Times New Roman"/>
              <a:sym typeface="Times New Roman"/>
            </a:endParaRPr>
          </a:p>
          <a:p>
            <a:pPr marL="457200" lvl="0" indent="0" algn="just" rtl="0">
              <a:lnSpc>
                <a:spcPct val="115000"/>
              </a:lnSpc>
              <a:spcBef>
                <a:spcPts val="1200"/>
              </a:spcBef>
              <a:spcAft>
                <a:spcPts val="0"/>
              </a:spcAft>
              <a:buNone/>
            </a:pPr>
            <a:endParaRPr sz="3750" dirty="0">
              <a:latin typeface="Times New Roman"/>
              <a:ea typeface="Times New Roman"/>
              <a:cs typeface="Times New Roman"/>
              <a:sym typeface="Times New Roman"/>
            </a:endParaRPr>
          </a:p>
          <a:p>
            <a:pPr marL="457200" lvl="0" indent="0" algn="just" rtl="0">
              <a:spcBef>
                <a:spcPts val="1200"/>
              </a:spcBef>
              <a:spcAft>
                <a:spcPts val="0"/>
              </a:spcAft>
              <a:buNone/>
            </a:pPr>
            <a:endParaRPr sz="3750" dirty="0"/>
          </a:p>
          <a:p>
            <a:pPr marL="0" lvl="0" indent="0" algn="just" rtl="0">
              <a:spcBef>
                <a:spcPts val="1200"/>
              </a:spcBef>
              <a:spcAft>
                <a:spcPts val="0"/>
              </a:spcAft>
              <a:buNone/>
            </a:pPr>
            <a:endParaRPr dirty="0"/>
          </a:p>
          <a:p>
            <a:pPr marL="457200" lvl="0" indent="0" algn="l" rtl="0">
              <a:spcBef>
                <a:spcPts val="1200"/>
              </a:spcBef>
              <a:spcAft>
                <a:spcPts val="120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80999" y="678080"/>
            <a:ext cx="8363125" cy="518260"/>
          </a:xfrm>
          <a:prstGeom prst="rect">
            <a:avLst/>
          </a:prstGeom>
        </p:spPr>
        <p:txBody>
          <a:bodyPr spcFirstLastPara="1" wrap="square" lIns="91425" tIns="91425" rIns="91425" bIns="91425" anchor="t" anchorCtr="0">
            <a:normAutofit fontScale="90000"/>
          </a:bodyPr>
          <a:lstStyle/>
          <a:p>
            <a:pPr marL="0" lvl="0" indent="0" algn="just" rtl="0">
              <a:spcBef>
                <a:spcPts val="0"/>
              </a:spcBef>
              <a:spcAft>
                <a:spcPts val="0"/>
              </a:spcAft>
              <a:buNone/>
            </a:pPr>
            <a:r>
              <a:rPr lang="en-US" dirty="0">
                <a:latin typeface="Times New Roman"/>
                <a:ea typeface="Times New Roman"/>
                <a:cs typeface="Times New Roman"/>
                <a:sym typeface="Times New Roman"/>
              </a:rPr>
              <a:t>REQUIREMENT SPECIFICATION</a:t>
            </a:r>
          </a:p>
        </p:txBody>
      </p:sp>
      <p:sp>
        <p:nvSpPr>
          <p:cNvPr id="89" name="Google Shape;89;p18"/>
          <p:cNvSpPr txBox="1">
            <a:spLocks noGrp="1"/>
          </p:cNvSpPr>
          <p:nvPr>
            <p:ph type="body" idx="1"/>
          </p:nvPr>
        </p:nvSpPr>
        <p:spPr>
          <a:xfrm>
            <a:off x="311700" y="1889760"/>
            <a:ext cx="8520600" cy="291314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b="1" dirty="0"/>
              <a:t>HARDWARE REQUIREMENTS</a:t>
            </a:r>
            <a:endParaRPr sz="1400" b="1" dirty="0"/>
          </a:p>
          <a:p>
            <a:pPr lvl="0" algn="l" rtl="0">
              <a:spcBef>
                <a:spcPts val="1200"/>
              </a:spcBef>
              <a:spcAft>
                <a:spcPts val="0"/>
              </a:spcAft>
              <a:buSzPts val="1800"/>
              <a:buFont typeface="Arial" panose="020B0604020202020204" pitchFamily="34" charset="0"/>
              <a:buChar char="•"/>
            </a:pPr>
            <a:r>
              <a:rPr lang="en" sz="1400" b="1" dirty="0"/>
              <a:t>System: Inter core i5</a:t>
            </a:r>
            <a:endParaRPr sz="1400" b="1" dirty="0"/>
          </a:p>
          <a:p>
            <a:pPr lvl="0" algn="l" rtl="0">
              <a:spcBef>
                <a:spcPts val="0"/>
              </a:spcBef>
              <a:spcAft>
                <a:spcPts val="0"/>
              </a:spcAft>
              <a:buSzPts val="1800"/>
              <a:buFont typeface="Arial" panose="020B0604020202020204" pitchFamily="34" charset="0"/>
              <a:buChar char="•"/>
            </a:pPr>
            <a:r>
              <a:rPr lang="en" sz="1400" b="1" dirty="0"/>
              <a:t>Hard drive</a:t>
            </a:r>
            <a:r>
              <a:rPr lang="en" sz="1400" b="1"/>
              <a:t>: 256 gb</a:t>
            </a:r>
            <a:endParaRPr sz="1400" b="1" dirty="0"/>
          </a:p>
          <a:p>
            <a:pPr lvl="0" algn="l" rtl="0">
              <a:spcBef>
                <a:spcPts val="0"/>
              </a:spcBef>
              <a:spcAft>
                <a:spcPts val="0"/>
              </a:spcAft>
              <a:buSzPts val="1800"/>
              <a:buFont typeface="Arial" panose="020B0604020202020204" pitchFamily="34" charset="0"/>
              <a:buChar char="•"/>
            </a:pPr>
            <a:r>
              <a:rPr lang="en" sz="1400" b="1" dirty="0"/>
              <a:t>Mouse :Any mouse</a:t>
            </a:r>
            <a:endParaRPr sz="1400" b="1" dirty="0"/>
          </a:p>
          <a:p>
            <a:pPr lvl="0" algn="l" rtl="0">
              <a:spcBef>
                <a:spcPts val="0"/>
              </a:spcBef>
              <a:spcAft>
                <a:spcPts val="0"/>
              </a:spcAft>
              <a:buSzPts val="1800"/>
              <a:buFont typeface="Arial" panose="020B0604020202020204" pitchFamily="34" charset="0"/>
              <a:buChar char="•"/>
            </a:pPr>
            <a:r>
              <a:rPr lang="en" sz="1400" b="1" dirty="0"/>
              <a:t>RAM: 4GB</a:t>
            </a:r>
            <a:endParaRPr sz="1400" b="1" dirty="0"/>
          </a:p>
          <a:p>
            <a:pPr marL="457200" lvl="0" indent="0" algn="l" rtl="0">
              <a:spcBef>
                <a:spcPts val="1200"/>
              </a:spcBef>
              <a:spcAft>
                <a:spcPts val="120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3F9AE-E589-76D8-6E8A-81207AA04889}"/>
              </a:ext>
            </a:extLst>
          </p:cNvPr>
          <p:cNvSpPr>
            <a:spLocks noGrp="1"/>
          </p:cNvSpPr>
          <p:nvPr>
            <p:ph type="title"/>
          </p:nvPr>
        </p:nvSpPr>
        <p:spPr/>
        <p:txBody>
          <a:bodyPr/>
          <a:lstStyle/>
          <a:p>
            <a:r>
              <a:rPr lang="en-US" dirty="0"/>
              <a:t>SOFTWARE REQUIREMENTS</a:t>
            </a:r>
            <a:endParaRPr lang="en-IN" dirty="0"/>
          </a:p>
        </p:txBody>
      </p:sp>
      <p:sp>
        <p:nvSpPr>
          <p:cNvPr id="3" name="Content Placeholder 2">
            <a:extLst>
              <a:ext uri="{FF2B5EF4-FFF2-40B4-BE49-F238E27FC236}">
                <a16:creationId xmlns:a16="http://schemas.microsoft.com/office/drawing/2014/main" xmlns="" id="{3ADD2232-2E7D-71E6-416F-1ECB5284486B}"/>
              </a:ext>
            </a:extLst>
          </p:cNvPr>
          <p:cNvSpPr>
            <a:spLocks noGrp="1"/>
          </p:cNvSpPr>
          <p:nvPr>
            <p:ph idx="1"/>
          </p:nvPr>
        </p:nvSpPr>
        <p:spPr/>
        <p:txBody>
          <a:bodyPr/>
          <a:lstStyle/>
          <a:p>
            <a:r>
              <a:rPr lang="en-US" sz="1400" b="1" dirty="0"/>
              <a:t>Operating System: Windows 10</a:t>
            </a:r>
          </a:p>
          <a:p>
            <a:r>
              <a:rPr lang="en-US" sz="1400" b="1" dirty="0"/>
              <a:t>Coding Language: Python 3.7</a:t>
            </a:r>
          </a:p>
          <a:p>
            <a:endParaRPr lang="en-IN" dirty="0"/>
          </a:p>
        </p:txBody>
      </p:sp>
    </p:spTree>
    <p:extLst>
      <p:ext uri="{BB962C8B-B14F-4D97-AF65-F5344CB8AC3E}">
        <p14:creationId xmlns:p14="http://schemas.microsoft.com/office/powerpoint/2010/main" xmlns="" val="1463521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556260" y="481946"/>
            <a:ext cx="8199120" cy="1028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latin typeface="Times New Roman"/>
                <a:ea typeface="Times New Roman"/>
                <a:cs typeface="Times New Roman"/>
                <a:sym typeface="Times New Roman"/>
              </a:rPr>
              <a:t>HAAR CASCADE CLASSIFIERS FOR FACE AND EYE DETECTION</a:t>
            </a:r>
          </a:p>
        </p:txBody>
      </p:sp>
      <p:sp>
        <p:nvSpPr>
          <p:cNvPr id="108" name="Google Shape;108;p21"/>
          <p:cNvSpPr txBox="1">
            <a:spLocks noGrp="1"/>
          </p:cNvSpPr>
          <p:nvPr>
            <p:ph idx="1"/>
          </p:nvPr>
        </p:nvSpPr>
        <p:spPr>
          <a:xfrm>
            <a:off x="388620" y="1577340"/>
            <a:ext cx="8366760" cy="294894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2"/>
              </a:buClr>
              <a:buSzPts val="1600"/>
              <a:buFont typeface="Times New Roman"/>
              <a:buChar char="●"/>
            </a:pPr>
            <a:r>
              <a:rPr lang="en-US" sz="1400" b="1" dirty="0" err="1">
                <a:solidFill>
                  <a:schemeClr val="dk2"/>
                </a:solidFill>
                <a:highlight>
                  <a:srgbClr val="FFFFFF"/>
                </a:highlight>
                <a:ea typeface="Times New Roman"/>
                <a:cs typeface="Times New Roman"/>
                <a:sym typeface="Times New Roman"/>
              </a:rPr>
              <a:t>Haar</a:t>
            </a:r>
            <a:r>
              <a:rPr lang="en-US" sz="1400" b="1" dirty="0">
                <a:solidFill>
                  <a:schemeClr val="dk2"/>
                </a:solidFill>
                <a:highlight>
                  <a:srgbClr val="FFFFFF"/>
                </a:highlight>
                <a:ea typeface="Times New Roman"/>
                <a:cs typeface="Times New Roman"/>
                <a:sym typeface="Times New Roman"/>
              </a:rPr>
              <a:t> Cascade classifiers are an effective way for object detection. This method was proposed by Paul Viola and Michael Jones in their paper Rapid Object Detection using a Boosted Cascade of Simple Features .</a:t>
            </a:r>
            <a:r>
              <a:rPr lang="en-US" sz="1400" b="1" dirty="0" err="1">
                <a:solidFill>
                  <a:schemeClr val="dk2"/>
                </a:solidFill>
                <a:highlight>
                  <a:srgbClr val="FFFFFF"/>
                </a:highlight>
                <a:ea typeface="Times New Roman"/>
                <a:cs typeface="Times New Roman"/>
                <a:sym typeface="Times New Roman"/>
              </a:rPr>
              <a:t>Haar</a:t>
            </a:r>
            <a:r>
              <a:rPr lang="en-US" sz="1400" b="1" dirty="0">
                <a:solidFill>
                  <a:schemeClr val="dk2"/>
                </a:solidFill>
                <a:highlight>
                  <a:srgbClr val="FFFFFF"/>
                </a:highlight>
                <a:ea typeface="Times New Roman"/>
                <a:cs typeface="Times New Roman"/>
                <a:sym typeface="Times New Roman"/>
              </a:rPr>
              <a:t> Cascade is a machine learning-based approach where a lot of positive and negative images are used to train the classifier. </a:t>
            </a:r>
          </a:p>
          <a:p>
            <a:pPr marL="127000" lvl="0" indent="0" algn="l" rtl="0">
              <a:spcBef>
                <a:spcPts val="0"/>
              </a:spcBef>
              <a:spcAft>
                <a:spcPts val="0"/>
              </a:spcAft>
              <a:buClr>
                <a:schemeClr val="dk2"/>
              </a:buClr>
              <a:buSzPts val="1600"/>
              <a:buNone/>
            </a:pPr>
            <a:endParaRPr lang="en-US" sz="1400" b="1" dirty="0">
              <a:solidFill>
                <a:schemeClr val="dk2"/>
              </a:solidFill>
              <a:highlight>
                <a:srgbClr val="FFFFFF"/>
              </a:highlight>
              <a:ea typeface="Times New Roman"/>
              <a:cs typeface="Times New Roman"/>
              <a:sym typeface="Times New Roman"/>
            </a:endParaRPr>
          </a:p>
          <a:p>
            <a:pPr marL="457200" lvl="0" indent="-330200" algn="l" rtl="0">
              <a:spcBef>
                <a:spcPts val="0"/>
              </a:spcBef>
              <a:spcAft>
                <a:spcPts val="0"/>
              </a:spcAft>
              <a:buClr>
                <a:schemeClr val="dk2"/>
              </a:buClr>
              <a:buSzPts val="1600"/>
              <a:buFont typeface="Times New Roman"/>
              <a:buChar char="●"/>
            </a:pPr>
            <a:endParaRPr lang="en-US" sz="1400" b="1" dirty="0">
              <a:solidFill>
                <a:schemeClr val="dk2"/>
              </a:solidFill>
              <a:highlight>
                <a:srgbClr val="FFFFFF"/>
              </a:highlight>
              <a:ea typeface="Times New Roman"/>
              <a:cs typeface="Times New Roman"/>
              <a:sym typeface="Times New Roman"/>
            </a:endParaRPr>
          </a:p>
          <a:p>
            <a:pPr marL="457200" lvl="0" indent="-330200" algn="l" rtl="0">
              <a:spcBef>
                <a:spcPts val="0"/>
              </a:spcBef>
              <a:spcAft>
                <a:spcPts val="0"/>
              </a:spcAft>
              <a:buClr>
                <a:schemeClr val="dk2"/>
              </a:buClr>
              <a:buSzPts val="1600"/>
              <a:buFont typeface="Times New Roman"/>
              <a:buChar char="●"/>
            </a:pPr>
            <a:r>
              <a:rPr lang="en-US" sz="1400" b="1" dirty="0">
                <a:solidFill>
                  <a:schemeClr val="dk2"/>
                </a:solidFill>
                <a:highlight>
                  <a:srgbClr val="FFFFFF"/>
                </a:highlight>
                <a:ea typeface="Times New Roman"/>
                <a:cs typeface="Times New Roman"/>
                <a:sym typeface="Times New Roman"/>
              </a:rPr>
              <a:t>Positive images – These images contain the images which we want our classifier to identify.</a:t>
            </a:r>
          </a:p>
          <a:p>
            <a:pPr marL="457200" lvl="0" indent="-330200" algn="l" rtl="0">
              <a:spcBef>
                <a:spcPts val="0"/>
              </a:spcBef>
              <a:spcAft>
                <a:spcPts val="0"/>
              </a:spcAft>
              <a:buClr>
                <a:schemeClr val="dk2"/>
              </a:buClr>
              <a:buSzPts val="1600"/>
              <a:buFont typeface="Times New Roman"/>
              <a:buChar char="●"/>
            </a:pPr>
            <a:r>
              <a:rPr lang="en-US" sz="1400" b="1" dirty="0">
                <a:solidFill>
                  <a:schemeClr val="dk2"/>
                </a:solidFill>
                <a:highlight>
                  <a:srgbClr val="FFFFFF"/>
                </a:highlight>
                <a:ea typeface="Times New Roman"/>
                <a:cs typeface="Times New Roman"/>
                <a:sym typeface="Times New Roman"/>
              </a:rPr>
              <a:t>Negative Images – Images of everything else, which do not contain the object we want to detect.</a:t>
            </a:r>
            <a:endParaRPr sz="1400" b="1" dirty="0">
              <a:solidFill>
                <a:schemeClr val="dk2"/>
              </a:solidFill>
              <a:highlight>
                <a:srgbClr val="FFFFFF"/>
              </a:highlight>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C78785C-E81B-D471-BE92-2EBD16E18408}"/>
              </a:ext>
            </a:extLst>
          </p:cNvPr>
          <p:cNvSpPr txBox="1"/>
          <p:nvPr/>
        </p:nvSpPr>
        <p:spPr>
          <a:xfrm>
            <a:off x="548640" y="998488"/>
            <a:ext cx="7688580" cy="523220"/>
          </a:xfrm>
          <a:prstGeom prst="rect">
            <a:avLst/>
          </a:prstGeom>
          <a:noFill/>
        </p:spPr>
        <p:txBody>
          <a:bodyPr wrap="square">
            <a:spAutoFit/>
          </a:bodyPr>
          <a:lstStyle/>
          <a:p>
            <a:endParaRPr lang="en-US" sz="1400" b="1" dirty="0"/>
          </a:p>
          <a:p>
            <a:endParaRPr lang="en-US" sz="1400" b="1" dirty="0"/>
          </a:p>
        </p:txBody>
      </p:sp>
      <p:sp>
        <p:nvSpPr>
          <p:cNvPr id="2" name="Title 1">
            <a:extLst>
              <a:ext uri="{FF2B5EF4-FFF2-40B4-BE49-F238E27FC236}">
                <a16:creationId xmlns:a16="http://schemas.microsoft.com/office/drawing/2014/main" xmlns="" id="{E820AC0F-CAA8-8799-DD2A-593D9B173303}"/>
              </a:ext>
            </a:extLst>
          </p:cNvPr>
          <p:cNvSpPr>
            <a:spLocks noGrp="1"/>
          </p:cNvSpPr>
          <p:nvPr>
            <p:ph type="title"/>
          </p:nvPr>
        </p:nvSpPr>
        <p:spPr/>
        <p:txBody>
          <a:bodyPr/>
          <a:lstStyle/>
          <a:p>
            <a:r>
              <a:rPr lang="en-US" dirty="0">
                <a:latin typeface="Times New Roman" pitchFamily="18" charset="0"/>
                <a:cs typeface="Times New Roman" pitchFamily="18" charset="0"/>
              </a:rPr>
              <a:t>CONTINUED</a:t>
            </a:r>
            <a:endParaRPr lang="en-IN" dirty="0">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xmlns="" id="{4E79DF83-2FBD-A346-9535-A71655582D35}"/>
              </a:ext>
            </a:extLst>
          </p:cNvPr>
          <p:cNvSpPr>
            <a:spLocks noGrp="1"/>
          </p:cNvSpPr>
          <p:nvPr>
            <p:ph idx="1"/>
          </p:nvPr>
        </p:nvSpPr>
        <p:spPr/>
        <p:txBody>
          <a:bodyPr/>
          <a:lstStyle/>
          <a:p>
            <a:pPr marL="0" indent="0">
              <a:buNone/>
            </a:pPr>
            <a:r>
              <a:rPr lang="en-US" b="1" dirty="0"/>
              <a:t>The algorithm can be explained in four stages:</a:t>
            </a:r>
          </a:p>
          <a:p>
            <a:endParaRPr lang="en-US" dirty="0"/>
          </a:p>
          <a:p>
            <a:r>
              <a:rPr lang="en-US" b="1" dirty="0"/>
              <a:t>	Calculating </a:t>
            </a:r>
            <a:r>
              <a:rPr lang="en-US" b="1" dirty="0" err="1"/>
              <a:t>Haar</a:t>
            </a:r>
            <a:r>
              <a:rPr lang="en-US" b="1" dirty="0"/>
              <a:t> Features</a:t>
            </a:r>
          </a:p>
          <a:p>
            <a:r>
              <a:rPr lang="en-US" b="1" dirty="0"/>
              <a:t>	Creating Integral Images</a:t>
            </a:r>
          </a:p>
          <a:p>
            <a:r>
              <a:rPr lang="en-US" b="1" dirty="0"/>
              <a:t>	Using </a:t>
            </a:r>
            <a:r>
              <a:rPr lang="en-US" b="1" dirty="0" err="1"/>
              <a:t>Adaboost</a:t>
            </a:r>
            <a:endParaRPr lang="en-US" b="1" dirty="0"/>
          </a:p>
          <a:p>
            <a:r>
              <a:rPr lang="en-US" b="1" dirty="0"/>
              <a:t>	Implementing Cascading Classifiers</a:t>
            </a:r>
          </a:p>
          <a:p>
            <a:endParaRPr lang="en-IN" dirty="0"/>
          </a:p>
        </p:txBody>
      </p:sp>
    </p:spTree>
    <p:extLst>
      <p:ext uri="{BB962C8B-B14F-4D97-AF65-F5344CB8AC3E}">
        <p14:creationId xmlns:p14="http://schemas.microsoft.com/office/powerpoint/2010/main" xmlns="" val="2920189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692428F2-376E-83A7-7D7E-30182C312586}"/>
              </a:ext>
            </a:extLst>
          </p:cNvPr>
          <p:cNvSpPr>
            <a:spLocks noGrp="1"/>
          </p:cNvSpPr>
          <p:nvPr>
            <p:ph type="title"/>
          </p:nvPr>
        </p:nvSpPr>
        <p:spPr/>
        <p:txBody>
          <a:bodyPr/>
          <a:lstStyle/>
          <a:p>
            <a:r>
              <a:rPr lang="en-US" dirty="0">
                <a:latin typeface="Times New Roman" pitchFamily="18" charset="0"/>
                <a:cs typeface="Times New Roman" pitchFamily="18" charset="0"/>
              </a:rPr>
              <a:t>EYE ASPECT RATIO</a:t>
            </a:r>
            <a:endParaRPr lang="en-IN" dirty="0">
              <a:latin typeface="Times New Roman" pitchFamily="18" charset="0"/>
              <a:cs typeface="Times New Roman" pitchFamily="18" charset="0"/>
            </a:endParaRPr>
          </a:p>
        </p:txBody>
      </p:sp>
      <p:sp>
        <p:nvSpPr>
          <p:cNvPr id="14" name="Content Placeholder 13">
            <a:extLst>
              <a:ext uri="{FF2B5EF4-FFF2-40B4-BE49-F238E27FC236}">
                <a16:creationId xmlns:a16="http://schemas.microsoft.com/office/drawing/2014/main" xmlns="" id="{C6181C95-68C6-5426-1915-C02E9475959A}"/>
              </a:ext>
            </a:extLst>
          </p:cNvPr>
          <p:cNvSpPr>
            <a:spLocks noGrp="1"/>
          </p:cNvSpPr>
          <p:nvPr>
            <p:ph idx="1"/>
          </p:nvPr>
        </p:nvSpPr>
        <p:spPr/>
        <p:txBody>
          <a:bodyPr/>
          <a:lstStyle/>
          <a:p>
            <a:r>
              <a:rPr lang="en-US" sz="1400" b="1" dirty="0"/>
              <a:t>The Eye Aspect Ratio is an estimate of the eye opening state. </a:t>
            </a:r>
          </a:p>
          <a:p>
            <a:r>
              <a:rPr lang="en-US" sz="1400" b="1" dirty="0"/>
              <a:t> The eye aspect ratio can be defined by the below equation. ... A program can determine if a person's eyes are closed if the Eye Aspect Ratio falls below a certain threshold. </a:t>
            </a:r>
          </a:p>
          <a:p>
            <a:r>
              <a:rPr lang="en-IN" b="1" dirty="0"/>
              <a:t> FORMULA</a:t>
            </a:r>
          </a:p>
          <a:p>
            <a:r>
              <a:rPr lang="en-IN" b="1" dirty="0"/>
              <a:t>                                </a:t>
            </a:r>
            <a:r>
              <a:rPr lang="en-IN" b="1" u="sng" dirty="0"/>
              <a:t>||P2-P6||+||P3-P5||</a:t>
            </a:r>
          </a:p>
          <a:p>
            <a:r>
              <a:rPr lang="en-IN" b="1" dirty="0"/>
              <a:t>                  EAR=                2||P1-P4||</a:t>
            </a:r>
          </a:p>
        </p:txBody>
      </p:sp>
    </p:spTree>
    <p:extLst>
      <p:ext uri="{BB962C8B-B14F-4D97-AF65-F5344CB8AC3E}">
        <p14:creationId xmlns:p14="http://schemas.microsoft.com/office/powerpoint/2010/main" xmlns="" val="3112974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C2F974-8248-DC74-C1CA-84D70A5BDDBA}"/>
              </a:ext>
            </a:extLst>
          </p:cNvPr>
          <p:cNvSpPr>
            <a:spLocks noGrp="1"/>
          </p:cNvSpPr>
          <p:nvPr>
            <p:ph type="title"/>
          </p:nvPr>
        </p:nvSpPr>
        <p:spPr/>
        <p:txBody>
          <a:bodyPr/>
          <a:lstStyle/>
          <a:p>
            <a:r>
              <a:rPr lang="en-US" dirty="0">
                <a:latin typeface="Times New Roman" pitchFamily="18" charset="0"/>
                <a:cs typeface="Times New Roman" pitchFamily="18" charset="0"/>
              </a:rPr>
              <a:t>CONTINUED</a:t>
            </a:r>
            <a:endParaRPr lang="en-IN" dirty="0">
              <a:latin typeface="Times New Roman" pitchFamily="18" charset="0"/>
              <a:cs typeface="Times New Roman" pitchFamily="18" charset="0"/>
            </a:endParaRPr>
          </a:p>
        </p:txBody>
      </p:sp>
      <p:pic>
        <p:nvPicPr>
          <p:cNvPr id="4" name="Content Placeholder 3">
            <a:extLst>
              <a:ext uri="{FF2B5EF4-FFF2-40B4-BE49-F238E27FC236}">
                <a16:creationId xmlns:a16="http://schemas.microsoft.com/office/drawing/2014/main" xmlns="" id="{0D069ED0-DA59-99B0-8A77-B4113B0D26D5}"/>
              </a:ext>
            </a:extLst>
          </p:cNvPr>
          <p:cNvPicPr>
            <a:picLocks noGrp="1" noChangeAspect="1"/>
          </p:cNvPicPr>
          <p:nvPr>
            <p:ph idx="1"/>
          </p:nvPr>
        </p:nvPicPr>
        <p:blipFill>
          <a:blip r:embed="rId2"/>
          <a:stretch>
            <a:fillRect/>
          </a:stretch>
        </p:blipFill>
        <p:spPr>
          <a:xfrm>
            <a:off x="866775" y="2141138"/>
            <a:ext cx="6618288" cy="2185199"/>
          </a:xfrm>
          <a:prstGeom prst="rect">
            <a:avLst/>
          </a:prstGeom>
        </p:spPr>
      </p:pic>
    </p:spTree>
    <p:extLst>
      <p:ext uri="{BB962C8B-B14F-4D97-AF65-F5344CB8AC3E}">
        <p14:creationId xmlns:p14="http://schemas.microsoft.com/office/powerpoint/2010/main" xmlns="" val="3404430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00D08C0-5625-3740-73AC-53078920D2CD}"/>
              </a:ext>
            </a:extLst>
          </p:cNvPr>
          <p:cNvSpPr>
            <a:spLocks noGrp="1"/>
          </p:cNvSpPr>
          <p:nvPr>
            <p:ph type="title"/>
          </p:nvPr>
        </p:nvSpPr>
        <p:spPr/>
        <p:txBody>
          <a:bodyPr/>
          <a:lstStyle/>
          <a:p>
            <a:r>
              <a:rPr lang="en-US" dirty="0"/>
              <a:t> </a:t>
            </a:r>
            <a:r>
              <a:rPr lang="en-US" dirty="0">
                <a:latin typeface="Times New Roman" pitchFamily="18" charset="0"/>
                <a:cs typeface="Times New Roman" pitchFamily="18" charset="0"/>
              </a:rPr>
              <a:t>OUTPUT</a:t>
            </a:r>
            <a:r>
              <a:rPr lang="en-US" dirty="0"/>
              <a:t>:</a:t>
            </a:r>
            <a:endParaRPr lang="en-IN" dirty="0"/>
          </a:p>
        </p:txBody>
      </p:sp>
      <p:pic>
        <p:nvPicPr>
          <p:cNvPr id="7" name="Content Placeholder 6">
            <a:extLst>
              <a:ext uri="{FF2B5EF4-FFF2-40B4-BE49-F238E27FC236}">
                <a16:creationId xmlns:a16="http://schemas.microsoft.com/office/drawing/2014/main" xmlns="" id="{45333B51-1517-8B1C-D7E6-500F7A9F9D64}"/>
              </a:ext>
            </a:extLst>
          </p:cNvPr>
          <p:cNvPicPr>
            <a:picLocks noGrp="1" noChangeAspect="1"/>
          </p:cNvPicPr>
          <p:nvPr>
            <p:ph idx="1"/>
          </p:nvPr>
        </p:nvPicPr>
        <p:blipFill>
          <a:blip r:embed="rId2"/>
          <a:stretch>
            <a:fillRect/>
          </a:stretch>
        </p:blipFill>
        <p:spPr>
          <a:xfrm>
            <a:off x="289560" y="1701165"/>
            <a:ext cx="4206240" cy="2840355"/>
          </a:xfrm>
        </p:spPr>
      </p:pic>
      <p:pic>
        <p:nvPicPr>
          <p:cNvPr id="10" name="Picture 9">
            <a:extLst>
              <a:ext uri="{FF2B5EF4-FFF2-40B4-BE49-F238E27FC236}">
                <a16:creationId xmlns:a16="http://schemas.microsoft.com/office/drawing/2014/main" xmlns="" id="{F7B4EE94-75CE-55A7-4F56-BF562ECF1F3A}"/>
              </a:ext>
            </a:extLst>
          </p:cNvPr>
          <p:cNvPicPr>
            <a:picLocks noChangeAspect="1"/>
          </p:cNvPicPr>
          <p:nvPr/>
        </p:nvPicPr>
        <p:blipFill>
          <a:blip r:embed="rId3"/>
          <a:stretch>
            <a:fillRect/>
          </a:stretch>
        </p:blipFill>
        <p:spPr>
          <a:xfrm>
            <a:off x="4648202" y="1701164"/>
            <a:ext cx="4206238" cy="2840355"/>
          </a:xfrm>
          <a:prstGeom prst="rect">
            <a:avLst/>
          </a:prstGeom>
        </p:spPr>
      </p:pic>
    </p:spTree>
    <p:extLst>
      <p:ext uri="{BB962C8B-B14F-4D97-AF65-F5344CB8AC3E}">
        <p14:creationId xmlns:p14="http://schemas.microsoft.com/office/powerpoint/2010/main" xmlns="" val="9839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CONCLUSION</a:t>
            </a:r>
          </a:p>
        </p:txBody>
      </p:sp>
      <p:sp>
        <p:nvSpPr>
          <p:cNvPr id="3" name="Content Placeholder 2"/>
          <p:cNvSpPr>
            <a:spLocks noGrp="1"/>
          </p:cNvSpPr>
          <p:nvPr>
            <p:ph idx="1"/>
          </p:nvPr>
        </p:nvSpPr>
        <p:spPr/>
        <p:txBody>
          <a:bodyPr>
            <a:normAutofit fontScale="92500" lnSpcReduction="10000"/>
          </a:bodyPr>
          <a:lstStyle/>
          <a:p>
            <a:r>
              <a:rPr lang="en-US" sz="1400" b="1" dirty="0"/>
              <a:t>In conclusion, the development of a driver drowsiness detection project using Python and the OpenCV library represents a significant step toward enhancing road safety and preventing accidents caused by driver fatigue. </a:t>
            </a:r>
          </a:p>
          <a:p>
            <a:r>
              <a:rPr lang="en-US" sz="1400" b="1" dirty="0"/>
              <a:t>The integration of </a:t>
            </a:r>
            <a:r>
              <a:rPr lang="en-US" sz="1400" b="1" dirty="0" err="1"/>
              <a:t>Haar</a:t>
            </a:r>
            <a:r>
              <a:rPr lang="en-US" sz="1400" b="1" dirty="0"/>
              <a:t> cascade classifiers for face and eye detection, along with the calculation of the Eye Aspect Ratio (EAR), enables accurate assessment of eye openness. </a:t>
            </a:r>
          </a:p>
          <a:p>
            <a:r>
              <a:rPr lang="en-US" sz="1400" b="1" dirty="0"/>
              <a:t>The implemented drowsiness detection algorithm, combined with configurable settings and alert mechanisms, ensures that the system can be tailored to individual preferences and sensitivity levels. </a:t>
            </a:r>
          </a:p>
          <a:p>
            <a:r>
              <a:rPr lang="en-US" sz="1400" b="1" dirty="0"/>
              <a:t>The user interface provides an intuitive platform for drivers to monitor their own alertness and take necessary actions to stay attentive on the road.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A243E5-BDF3-EF8B-F83F-03B472D57B3D}"/>
              </a:ext>
            </a:extLst>
          </p:cNvPr>
          <p:cNvSpPr>
            <a:spLocks noGrp="1"/>
          </p:cNvSpPr>
          <p:nvPr>
            <p:ph type="title"/>
          </p:nvPr>
        </p:nvSpPr>
        <p:spPr/>
        <p:txBody>
          <a:bodyPr/>
          <a:lstStyle/>
          <a:p>
            <a:r>
              <a:rPr lang="en-US" dirty="0">
                <a:latin typeface="Times New Roman" pitchFamily="18" charset="0"/>
                <a:cs typeface="Times New Roman" pitchFamily="18" charset="0"/>
              </a:rPr>
              <a:t>REFERENCES</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8CCA030A-C4BB-AAD3-9B71-F156664BDF6A}"/>
              </a:ext>
            </a:extLst>
          </p:cNvPr>
          <p:cNvSpPr>
            <a:spLocks noGrp="1"/>
          </p:cNvSpPr>
          <p:nvPr>
            <p:ph idx="1"/>
          </p:nvPr>
        </p:nvSpPr>
        <p:spPr>
          <a:xfrm>
            <a:off x="800100" y="1821180"/>
            <a:ext cx="7543800" cy="2705100"/>
          </a:xfrm>
        </p:spPr>
        <p:txBody>
          <a:bodyPr>
            <a:normAutofit fontScale="85000" lnSpcReduction="10000"/>
          </a:bodyPr>
          <a:lstStyle/>
          <a:p>
            <a:pPr algn="just"/>
            <a:r>
              <a:rPr lang="en-IN" sz="1600" b="1" dirty="0">
                <a:latin typeface="+mj-lt"/>
                <a:cs typeface="Times New Roman" panose="02020603050405020304" pitchFamily="18" charset="0"/>
              </a:rPr>
              <a:t>[1] Agarwal, </a:t>
            </a:r>
            <a:r>
              <a:rPr lang="en-IN" sz="1600" b="1" dirty="0" err="1">
                <a:latin typeface="+mj-lt"/>
                <a:cs typeface="Times New Roman" panose="02020603050405020304" pitchFamily="18" charset="0"/>
              </a:rPr>
              <a:t>Apoorv</a:t>
            </a:r>
            <a:r>
              <a:rPr lang="en-IN" sz="1600" b="1" dirty="0">
                <a:latin typeface="+mj-lt"/>
                <a:cs typeface="Times New Roman" panose="02020603050405020304" pitchFamily="18" charset="0"/>
              </a:rPr>
              <a:t>, </a:t>
            </a:r>
            <a:r>
              <a:rPr lang="en-IN" sz="1600" b="1" dirty="0" err="1">
                <a:latin typeface="+mj-lt"/>
                <a:cs typeface="Times New Roman" panose="02020603050405020304" pitchFamily="18" charset="0"/>
              </a:rPr>
              <a:t>Fadi</a:t>
            </a:r>
            <a:r>
              <a:rPr lang="en-IN" sz="1600" b="1" dirty="0">
                <a:latin typeface="+mj-lt"/>
                <a:cs typeface="Times New Roman" panose="02020603050405020304" pitchFamily="18" charset="0"/>
              </a:rPr>
              <a:t> </a:t>
            </a:r>
            <a:r>
              <a:rPr lang="en-IN" sz="1600" b="1" dirty="0" err="1">
                <a:latin typeface="+mj-lt"/>
                <a:cs typeface="Times New Roman" panose="02020603050405020304" pitchFamily="18" charset="0"/>
              </a:rPr>
              <a:t>Biadsy</a:t>
            </a:r>
            <a:r>
              <a:rPr lang="en-IN" sz="1600" b="1" dirty="0">
                <a:latin typeface="+mj-lt"/>
                <a:cs typeface="Times New Roman" panose="02020603050405020304" pitchFamily="18" charset="0"/>
              </a:rPr>
              <a:t>, and Kathleen R. </a:t>
            </a:r>
            <a:r>
              <a:rPr lang="en-IN" sz="1600" b="1" dirty="0" err="1">
                <a:latin typeface="+mj-lt"/>
                <a:cs typeface="Times New Roman" panose="02020603050405020304" pitchFamily="18" charset="0"/>
              </a:rPr>
              <a:t>Mckeown</a:t>
            </a:r>
            <a:r>
              <a:rPr lang="en-IN" sz="1600" b="1" dirty="0">
                <a:latin typeface="+mj-lt"/>
                <a:cs typeface="Times New Roman" panose="02020603050405020304" pitchFamily="18" charset="0"/>
              </a:rPr>
              <a:t>. "Contextual phrase-level polarity </a:t>
            </a:r>
          </a:p>
          <a:p>
            <a:pPr algn="just"/>
            <a:r>
              <a:rPr lang="en-IN" sz="1600" b="1" dirty="0">
                <a:latin typeface="+mj-lt"/>
                <a:cs typeface="Times New Roman" panose="02020603050405020304" pitchFamily="18" charset="0"/>
              </a:rPr>
              <a:t>analysis using lexical affect scoring and syntactic n-grams." Proceedings of the 12th Conference of the European Chapter of the Association for Computational Linguistics. Association for Computational Linguistics, 2009.  </a:t>
            </a:r>
          </a:p>
          <a:p>
            <a:pPr algn="just"/>
            <a:r>
              <a:rPr lang="en-IN" sz="1600" b="1" dirty="0">
                <a:latin typeface="+mj-lt"/>
                <a:cs typeface="Times New Roman" panose="02020603050405020304" pitchFamily="18" charset="0"/>
              </a:rPr>
              <a:t>[2] Barbosa, Luciano, and </a:t>
            </a:r>
            <a:r>
              <a:rPr lang="en-IN" sz="1600" b="1" dirty="0" err="1">
                <a:latin typeface="+mj-lt"/>
                <a:cs typeface="Times New Roman" panose="02020603050405020304" pitchFamily="18" charset="0"/>
              </a:rPr>
              <a:t>Junlan</a:t>
            </a:r>
            <a:r>
              <a:rPr lang="en-IN" sz="1600" b="1" dirty="0">
                <a:latin typeface="+mj-lt"/>
                <a:cs typeface="Times New Roman" panose="02020603050405020304" pitchFamily="18" charset="0"/>
              </a:rPr>
              <a:t> Feng. "Robust sentiment detection on twitter from biased and noisy data." Proceedings of the 23rd international conference on computational linguistics: posters. Association for Computational Linguistics, 2010.  </a:t>
            </a:r>
          </a:p>
          <a:p>
            <a:pPr algn="just"/>
            <a:r>
              <a:rPr lang="en-IN" sz="1600" b="1" dirty="0">
                <a:cs typeface="Times New Roman" panose="02020603050405020304" pitchFamily="18" charset="0"/>
              </a:rPr>
              <a:t>[3] </a:t>
            </a:r>
            <a:r>
              <a:rPr lang="en-IN" sz="1600" b="1" dirty="0" err="1">
                <a:cs typeface="Times New Roman" panose="02020603050405020304" pitchFamily="18" charset="0"/>
              </a:rPr>
              <a:t>Bermingham</a:t>
            </a:r>
            <a:r>
              <a:rPr lang="en-IN" sz="1600" b="1" dirty="0">
                <a:cs typeface="Times New Roman" panose="02020603050405020304" pitchFamily="18" charset="0"/>
              </a:rPr>
              <a:t>, Adam, and Alan F. Smeaton. "Classifying sentiment in microblogs: is brevity an advantage?." Proceedings of the 19th ACM international conference on Information and knowledge management. ACM, 2010. </a:t>
            </a:r>
          </a:p>
        </p:txBody>
      </p:sp>
    </p:spTree>
    <p:extLst>
      <p:ext uri="{BB962C8B-B14F-4D97-AF65-F5344CB8AC3E}">
        <p14:creationId xmlns:p14="http://schemas.microsoft.com/office/powerpoint/2010/main" xmlns="" val="1210833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10AB9-AFE9-678F-DC8E-26599FD6090C}"/>
              </a:ext>
            </a:extLst>
          </p:cNvPr>
          <p:cNvSpPr>
            <a:spLocks noGrp="1"/>
          </p:cNvSpPr>
          <p:nvPr>
            <p:ph type="title"/>
          </p:nvPr>
        </p:nvSpPr>
        <p:spPr>
          <a:xfrm>
            <a:off x="800100" y="481946"/>
            <a:ext cx="7543800" cy="798214"/>
          </a:xfrm>
        </p:spPr>
        <p:txBody>
          <a:bodyPr>
            <a:normAutofit/>
          </a:bodyPr>
          <a:lstStyle/>
          <a:p>
            <a:r>
              <a:rPr lang="en-US" dirty="0">
                <a:latin typeface="Times New Roman" pitchFamily="18" charset="0"/>
                <a:cs typeface="Times New Roman" pitchFamily="18" charset="0"/>
              </a:rPr>
              <a:t>REFERENCES</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F468ACA3-5B15-1AD5-6E14-1BFFA6CD2AC6}"/>
              </a:ext>
            </a:extLst>
          </p:cNvPr>
          <p:cNvSpPr>
            <a:spLocks noGrp="1"/>
          </p:cNvSpPr>
          <p:nvPr>
            <p:ph idx="1"/>
          </p:nvPr>
        </p:nvSpPr>
        <p:spPr>
          <a:xfrm>
            <a:off x="800100" y="1524000"/>
            <a:ext cx="7543800" cy="3002280"/>
          </a:xfrm>
        </p:spPr>
        <p:txBody>
          <a:bodyPr>
            <a:noAutofit/>
          </a:bodyPr>
          <a:lstStyle/>
          <a:p>
            <a:pPr marL="205740" lvl="1" indent="0">
              <a:buNone/>
            </a:pPr>
            <a:endParaRPr lang="en-US" sz="1400" b="1" dirty="0" smtClean="0">
              <a:cs typeface="Times New Roman" panose="02020603050405020304" pitchFamily="18" charset="0"/>
            </a:endParaRPr>
          </a:p>
          <a:p>
            <a:pPr marL="205740" lvl="1" indent="0">
              <a:buNone/>
            </a:pPr>
            <a:r>
              <a:rPr lang="en-US" sz="1400" b="1" dirty="0" smtClean="0">
                <a:cs typeface="Times New Roman" panose="02020603050405020304" pitchFamily="18" charset="0"/>
              </a:rPr>
              <a:t>[</a:t>
            </a:r>
            <a:r>
              <a:rPr lang="en-US" sz="1400" b="1" dirty="0">
                <a:cs typeface="Times New Roman" panose="02020603050405020304" pitchFamily="18" charset="0"/>
              </a:rPr>
              <a:t>4] </a:t>
            </a:r>
            <a:r>
              <a:rPr lang="en-US" sz="1400" b="1" dirty="0" err="1">
                <a:cs typeface="Times New Roman" panose="02020603050405020304" pitchFamily="18" charset="0"/>
              </a:rPr>
              <a:t>Gamon</a:t>
            </a:r>
            <a:r>
              <a:rPr lang="en-US" sz="1400" b="1" dirty="0">
                <a:cs typeface="Times New Roman" panose="02020603050405020304" pitchFamily="18" charset="0"/>
              </a:rPr>
              <a:t>, Michael. "Sentiment classification on customer feedback data: noisy data, large feature vectors, and the role of linguistic analysis." Proceedings of the 20th international conference on Computational Linguistics. Association for Computational Linguistics, 2004.  </a:t>
            </a:r>
          </a:p>
          <a:p>
            <a:pPr marL="205740" lvl="1" indent="0">
              <a:buNone/>
            </a:pPr>
            <a:r>
              <a:rPr lang="en-US" sz="1400" b="1" dirty="0">
                <a:cs typeface="Times New Roman" panose="02020603050405020304" pitchFamily="18" charset="0"/>
              </a:rPr>
              <a:t>[5] Kim, Soo-Min, and Eduard </a:t>
            </a:r>
            <a:r>
              <a:rPr lang="en-US" sz="1400" b="1" dirty="0" err="1">
                <a:cs typeface="Times New Roman" panose="02020603050405020304" pitchFamily="18" charset="0"/>
              </a:rPr>
              <a:t>Hovy</a:t>
            </a:r>
            <a:r>
              <a:rPr lang="en-US" sz="1400" b="1" dirty="0">
                <a:cs typeface="Times New Roman" panose="02020603050405020304" pitchFamily="18" charset="0"/>
              </a:rPr>
              <a:t>. "Determining the sentiment of opinions." Proceedings of the 20th international conference on Computational Linguistics. Association for Computational Linguistics, 2004.  </a:t>
            </a:r>
          </a:p>
          <a:p>
            <a:pPr marL="205740" lvl="1" indent="0">
              <a:buNone/>
            </a:pPr>
            <a:r>
              <a:rPr lang="en-US" sz="1400" b="1" dirty="0">
                <a:cs typeface="Times New Roman" panose="02020603050405020304" pitchFamily="18" charset="0"/>
              </a:rPr>
              <a:t>[6] Klein, Dan, and Christopher D. Manning. "Accurate unlexicalized parsing." Proceedings of the 41st Annual Meeting on Association for Computational Linguistics-Volume 1. Association for </a:t>
            </a:r>
          </a:p>
          <a:p>
            <a:pPr marL="205740" lvl="1" indent="0">
              <a:buNone/>
            </a:pPr>
            <a:r>
              <a:rPr lang="en-US" sz="1400" b="1" dirty="0">
                <a:cs typeface="Times New Roman" panose="02020603050405020304" pitchFamily="18" charset="0"/>
              </a:rPr>
              <a:t>Computational Linguistics, 2003.</a:t>
            </a:r>
            <a:endParaRPr lang="en-IN" sz="1400" b="1" dirty="0">
              <a:cs typeface="Times New Roman" panose="02020603050405020304" pitchFamily="18" charset="0"/>
            </a:endParaRPr>
          </a:p>
        </p:txBody>
      </p:sp>
    </p:spTree>
    <p:extLst>
      <p:ext uri="{BB962C8B-B14F-4D97-AF65-F5344CB8AC3E}">
        <p14:creationId xmlns:p14="http://schemas.microsoft.com/office/powerpoint/2010/main" xmlns="" val="529065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C770F-6D0A-5E90-CD0E-2A19F17201A1}"/>
              </a:ext>
            </a:extLst>
          </p:cNvPr>
          <p:cNvSpPr>
            <a:spLocks noGrp="1"/>
          </p:cNvSpPr>
          <p:nvPr>
            <p:ph type="ctrTitle"/>
          </p:nvPr>
        </p:nvSpPr>
        <p:spPr>
          <a:xfrm>
            <a:off x="782134" y="649890"/>
            <a:ext cx="6619244" cy="2008236"/>
          </a:xfrm>
        </p:spPr>
        <p:txBody>
          <a:bodyPr/>
          <a:lstStyle/>
          <a:p>
            <a:r>
              <a:rPr lang="en-US" dirty="0" smtClean="0"/>
              <a:t>             THANK </a:t>
            </a:r>
            <a:r>
              <a:rPr lang="en-US" dirty="0"/>
              <a:t>YOU</a:t>
            </a:r>
            <a:endParaRPr lang="en-IN" dirty="0"/>
          </a:p>
        </p:txBody>
      </p:sp>
      <p:sp>
        <p:nvSpPr>
          <p:cNvPr id="3" name="Subtitle 2">
            <a:extLst>
              <a:ext uri="{FF2B5EF4-FFF2-40B4-BE49-F238E27FC236}">
                <a16:creationId xmlns:a16="http://schemas.microsoft.com/office/drawing/2014/main" xmlns="" id="{FBDA2110-75F8-DD8D-774C-355AB0852271}"/>
              </a:ext>
            </a:extLst>
          </p:cNvPr>
          <p:cNvSpPr>
            <a:spLocks noGrp="1"/>
          </p:cNvSpPr>
          <p:nvPr>
            <p:ph type="subTitle" idx="1"/>
          </p:nvPr>
        </p:nvSpPr>
        <p:spPr>
          <a:xfrm>
            <a:off x="540395" y="-646065"/>
            <a:ext cx="6619244" cy="646065"/>
          </a:xfrm>
        </p:spPr>
        <p:txBody>
          <a:bodyPr/>
          <a:lstStyle/>
          <a:p>
            <a:endParaRPr lang="en-IN" dirty="0"/>
          </a:p>
        </p:txBody>
      </p:sp>
    </p:spTree>
    <p:extLst>
      <p:ext uri="{BB962C8B-B14F-4D97-AF65-F5344CB8AC3E}">
        <p14:creationId xmlns:p14="http://schemas.microsoft.com/office/powerpoint/2010/main" xmlns="" val="38688021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317</TotalTime>
  <Words>1244</Words>
  <Application>Microsoft Office PowerPoint</Application>
  <PresentationFormat>On-screen Show (16:9)</PresentationFormat>
  <Paragraphs>146</Paragraphs>
  <Slides>22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Times New Roman</vt:lpstr>
      <vt:lpstr>Century Gothic</vt:lpstr>
      <vt:lpstr>Wingdings 3</vt:lpstr>
      <vt:lpstr>Ion Boardroom</vt:lpstr>
      <vt:lpstr>DRIVER DROWSINESS  DETECTION USING MACHINE LEARNING</vt:lpstr>
      <vt:lpstr>CONTENTS</vt:lpstr>
      <vt:lpstr>INTRODUCTION</vt:lpstr>
      <vt:lpstr>MOTIVATION</vt:lpstr>
      <vt:lpstr>LITERARY SURVEY</vt:lpstr>
      <vt:lpstr>LITERARY SURVEY</vt:lpstr>
      <vt:lpstr>OBJECTIVE</vt:lpstr>
      <vt:lpstr>PROBLEM STATEMENT:</vt:lpstr>
      <vt:lpstr>PROPOSED SYSTEM </vt:lpstr>
      <vt:lpstr>SYSTEM DESIGN</vt:lpstr>
      <vt:lpstr>COMPONENTS OF DRIVER DROWSINESS DETECTION SYSTEM</vt:lpstr>
      <vt:lpstr>REQUIREMENT SPECIFICATION</vt:lpstr>
      <vt:lpstr>SOFTWARE REQUIREMENTS</vt:lpstr>
      <vt:lpstr>HAAR CASCADE CLASSIFIERS FOR FACE AND EYE DETECTION</vt:lpstr>
      <vt:lpstr>CONTINUED</vt:lpstr>
      <vt:lpstr>EYE ASPECT RATIO</vt:lpstr>
      <vt:lpstr>CONTINUED</vt:lpstr>
      <vt:lpstr> OUTPUT:</vt:lpstr>
      <vt:lpstr>CONCLUSION</vt:lpstr>
      <vt:lpstr>REFERENCES</vt:lpstr>
      <vt:lpstr>REFERENCES</vt:lpstr>
      <vt:lpstr>             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ALERT DETECTION USING MACHINE LEARNING</dc:title>
  <dc:creator>USER</dc:creator>
  <cp:lastModifiedBy>USER</cp:lastModifiedBy>
  <cp:revision>26</cp:revision>
  <dcterms:modified xsi:type="dcterms:W3CDTF">2024-05-05T05:28:28Z</dcterms:modified>
</cp:coreProperties>
</file>